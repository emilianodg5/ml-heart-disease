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4630400" cy="8229600"/>
  <p:notesSz cx="8229600" cy="14630400"/>
  <p:embeddedFontLst>
    <p:embeddedFont>
      <p:font typeface="Alexandria ExtraBold" pitchFamily="2" charset="-78"/>
      <p:bold r:id="rId14"/>
    </p:embeddedFont>
    <p:embeddedFont>
      <p:font typeface="Alexandria Light" pitchFamily="2" charset="-78"/>
      <p:regular r:id="rId15"/>
    </p:embeddedFont>
    <p:embeddedFont>
      <p:font typeface="Alexandria Semi Bold" panose="020B0604020202020204" charset="-78"/>
      <p:regular r:id="rId16"/>
    </p:embeddedFont>
    <p:embeddedFont>
      <p:font typeface="Sora" pitchFamily="2" charset="0"/>
      <p:regular r:id="rId17"/>
      <p:bold r:id="rId18"/>
    </p:embeddedFont>
    <p:embeddedFont>
      <p:font typeface="Sora ExtraBold" pitchFamily="2" charset="0"/>
      <p:bold r:id="rId19"/>
    </p:embeddedFont>
    <p:embeddedFont>
      <p:font typeface="Sora Light" pitchFamily="2" charset="0"/>
      <p:regular r:id="rId20"/>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10"/>
  </p:normalViewPr>
  <p:slideViewPr>
    <p:cSldViewPr snapToGrid="0" snapToObjects="1">
      <p:cViewPr>
        <p:scale>
          <a:sx n="75" d="100"/>
          <a:sy n="75" d="100"/>
        </p:scale>
        <p:origin x="398"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5510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25AF0-6C27-8C58-EC8E-08E8E8FA3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8FB0C-154E-F49B-BC6A-E6AE9EBF0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3142C-5C51-FE0C-0B30-7017BD88DE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EB5263-2E49-A03D-3FAD-6AF1029A860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25701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it-IT"/>
          </a:p>
        </p:txBody>
      </p:sp>
      <p:sp>
        <p:nvSpPr>
          <p:cNvPr id="3" name="Shape 1"/>
          <p:cNvSpPr/>
          <p:nvPr/>
        </p:nvSpPr>
        <p:spPr>
          <a:xfrm>
            <a:off x="0" y="0"/>
            <a:ext cx="14630400" cy="8229600"/>
          </a:xfrm>
          <a:prstGeom prst="rect">
            <a:avLst/>
          </a:prstGeom>
          <a:solidFill>
            <a:srgbClr val="FFFAFA"/>
          </a:solidFill>
          <a:ln/>
        </p:spPr>
        <p:txBody>
          <a:bodyPr/>
          <a:lstStyle/>
          <a:p>
            <a:endParaRPr lang="it-IT"/>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1371600"/>
            <a:ext cx="5486400" cy="5486400"/>
          </a:xfrm>
          <a:prstGeom prst="rect">
            <a:avLst/>
          </a:prstGeom>
        </p:spPr>
      </p:pic>
      <p:sp>
        <p:nvSpPr>
          <p:cNvPr id="3" name="Text 0"/>
          <p:cNvSpPr/>
          <p:nvPr/>
        </p:nvSpPr>
        <p:spPr>
          <a:xfrm>
            <a:off x="6244709" y="3127415"/>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ExtraBold" pitchFamily="2" charset="-78"/>
                <a:ea typeface="Alexandria Semi Bold" pitchFamily="34" charset="-122"/>
                <a:cs typeface="Alexandria ExtraBold" pitchFamily="2" charset="-78"/>
              </a:rPr>
              <a:t>Heart Disease</a:t>
            </a:r>
            <a:endParaRPr lang="en-US" sz="4450" dirty="0">
              <a:latin typeface="Alexandria ExtraBold" pitchFamily="2" charset="-78"/>
              <a:cs typeface="Alexandria ExtraBold" pitchFamily="2" charset="-78"/>
            </a:endParaRPr>
          </a:p>
        </p:txBody>
      </p:sp>
      <p:sp>
        <p:nvSpPr>
          <p:cNvPr id="4" name="Text 1"/>
          <p:cNvSpPr/>
          <p:nvPr/>
        </p:nvSpPr>
        <p:spPr>
          <a:xfrm>
            <a:off x="6244709" y="4165044"/>
            <a:ext cx="7627382"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pitchFamily="2" charset="0"/>
                <a:ea typeface="Sora Light" pitchFamily="34" charset="-122"/>
                <a:cs typeface="Sora" pitchFamily="2" charset="0"/>
              </a:rPr>
              <a:t>Predizione</a:t>
            </a:r>
            <a:r>
              <a:rPr lang="en-US" sz="1700" dirty="0">
                <a:solidFill>
                  <a:srgbClr val="3B3535"/>
                </a:solidFill>
                <a:latin typeface="Sora Light" pitchFamily="34" charset="0"/>
                <a:ea typeface="Sora Light" pitchFamily="34" charset="-122"/>
                <a:cs typeface="Sora Light" pitchFamily="34" charset="-120"/>
              </a:rPr>
              <a:t> del rischio di attacco cardiaco tramite Machine Learning</a:t>
            </a:r>
            <a:endParaRPr lang="en-US" sz="1700" dirty="0"/>
          </a:p>
        </p:txBody>
      </p:sp>
      <p:sp>
        <p:nvSpPr>
          <p:cNvPr id="5" name="Text 2"/>
          <p:cNvSpPr/>
          <p:nvPr/>
        </p:nvSpPr>
        <p:spPr>
          <a:xfrm>
            <a:off x="6244709" y="4755475"/>
            <a:ext cx="7627382" cy="346710"/>
          </a:xfrm>
          <a:prstGeom prst="rect">
            <a:avLst/>
          </a:prstGeom>
          <a:noFill/>
          <a:ln/>
        </p:spPr>
        <p:txBody>
          <a:bodyPr wrap="none" lIns="0" tIns="0" rIns="0" bIns="0" rtlCol="0" anchor="t"/>
          <a:lstStyle/>
          <a:p>
            <a:pPr marL="0" indent="0" algn="l">
              <a:lnSpc>
                <a:spcPts val="2700"/>
              </a:lnSpc>
              <a:buNone/>
            </a:pPr>
            <a:r>
              <a:rPr lang="en-US" dirty="0"/>
              <a:t>Università degli Studi di Salerno - Corso di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08196"/>
          </a:xfrm>
          <a:prstGeom prst="rect">
            <a:avLst/>
          </a:prstGeom>
        </p:spPr>
      </p:pic>
      <p:sp>
        <p:nvSpPr>
          <p:cNvPr id="5" name="Text 2"/>
          <p:cNvSpPr/>
          <p:nvPr/>
        </p:nvSpPr>
        <p:spPr>
          <a:xfrm>
            <a:off x="758309" y="4168497"/>
            <a:ext cx="8681085"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Machine Learning in Medicina</a:t>
            </a:r>
            <a:endParaRPr lang="en-US" sz="4450" dirty="0"/>
          </a:p>
        </p:txBody>
      </p:sp>
      <p:sp>
        <p:nvSpPr>
          <p:cNvPr id="6" name="Text 3"/>
          <p:cNvSpPr/>
          <p:nvPr/>
        </p:nvSpPr>
        <p:spPr>
          <a:xfrm>
            <a:off x="758309" y="542270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Il Ruolo del ML</a:t>
            </a:r>
            <a:endParaRPr lang="en-US" sz="2200" dirty="0"/>
          </a:p>
        </p:txBody>
      </p:sp>
      <p:sp>
        <p:nvSpPr>
          <p:cNvPr id="7" name="Text 4"/>
          <p:cNvSpPr/>
          <p:nvPr/>
        </p:nvSpPr>
        <p:spPr>
          <a:xfrm>
            <a:off x="758309" y="5995511"/>
            <a:ext cx="6292572"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Il Machine Learning offre strumenti avanzati per l'analisi di grandi quantità di dati clinici, individuando pattern nascosti e supportando il personale sanitario.</a:t>
            </a:r>
            <a:endParaRPr lang="en-US" sz="1700" dirty="0"/>
          </a:p>
        </p:txBody>
      </p:sp>
      <p:sp>
        <p:nvSpPr>
          <p:cNvPr id="8" name="Text 5"/>
          <p:cNvSpPr/>
          <p:nvPr/>
        </p:nvSpPr>
        <p:spPr>
          <a:xfrm>
            <a:off x="7587139" y="542270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Applicazioni</a:t>
            </a:r>
            <a:endParaRPr lang="en-US" sz="2200" dirty="0"/>
          </a:p>
        </p:txBody>
      </p:sp>
      <p:sp>
        <p:nvSpPr>
          <p:cNvPr id="9" name="Text 6"/>
          <p:cNvSpPr/>
          <p:nvPr/>
        </p:nvSpPr>
        <p:spPr>
          <a:xfrm>
            <a:off x="7587139" y="5995511"/>
            <a:ext cx="6292572"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Diagnosi precoce delle patologie</a:t>
            </a:r>
            <a:endParaRPr lang="en-US" sz="1700" dirty="0"/>
          </a:p>
        </p:txBody>
      </p:sp>
      <p:sp>
        <p:nvSpPr>
          <p:cNvPr id="10" name="Text 7"/>
          <p:cNvSpPr/>
          <p:nvPr/>
        </p:nvSpPr>
        <p:spPr>
          <a:xfrm>
            <a:off x="7587139" y="6417945"/>
            <a:ext cx="6292572"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Predizione del rischio clinico</a:t>
            </a:r>
            <a:endParaRPr lang="en-US" sz="1700" dirty="0"/>
          </a:p>
        </p:txBody>
      </p:sp>
      <p:sp>
        <p:nvSpPr>
          <p:cNvPr id="11" name="Text 8"/>
          <p:cNvSpPr/>
          <p:nvPr/>
        </p:nvSpPr>
        <p:spPr>
          <a:xfrm>
            <a:off x="7587139" y="6840379"/>
            <a:ext cx="6292572" cy="34671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3B3535"/>
                </a:solidFill>
                <a:latin typeface="Sora Light" pitchFamily="34" charset="0"/>
                <a:ea typeface="Sora Light" pitchFamily="34" charset="-122"/>
                <a:cs typeface="Sora Light" pitchFamily="34" charset="-120"/>
              </a:rPr>
              <a:t>Monitoraggio dello stato di salute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2"/>
          <p:cNvSpPr/>
          <p:nvPr/>
        </p:nvSpPr>
        <p:spPr>
          <a:xfrm>
            <a:off x="758309" y="2288977"/>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Il Dataset</a:t>
            </a:r>
            <a:endParaRPr lang="en-US" sz="4450" dirty="0"/>
          </a:p>
        </p:txBody>
      </p:sp>
      <p:sp>
        <p:nvSpPr>
          <p:cNvPr id="5" name="Text 3"/>
          <p:cNvSpPr/>
          <p:nvPr/>
        </p:nvSpPr>
        <p:spPr>
          <a:xfrm>
            <a:off x="758309" y="3326606"/>
            <a:ext cx="13113782"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Heart Attack Analysis &amp; Prediction da Kaggle, versione migliorata del UCI Heart Disease Dataset.</a:t>
            </a:r>
            <a:endParaRPr lang="en-US" sz="1700" dirty="0"/>
          </a:p>
        </p:txBody>
      </p:sp>
      <p:sp>
        <p:nvSpPr>
          <p:cNvPr id="6" name="Text 4"/>
          <p:cNvSpPr/>
          <p:nvPr/>
        </p:nvSpPr>
        <p:spPr>
          <a:xfrm>
            <a:off x="758309" y="4025265"/>
            <a:ext cx="4190762" cy="714970"/>
          </a:xfrm>
          <a:prstGeom prst="rect">
            <a:avLst/>
          </a:prstGeom>
          <a:noFill/>
          <a:ln/>
        </p:spPr>
        <p:txBody>
          <a:bodyPr wrap="none" lIns="0" tIns="0" rIns="0" bIns="0" rtlCol="0" anchor="t"/>
          <a:lstStyle/>
          <a:p>
            <a:pPr marL="0" indent="0" algn="ctr">
              <a:lnSpc>
                <a:spcPts val="5600"/>
              </a:lnSpc>
              <a:buNone/>
            </a:pPr>
            <a:r>
              <a:rPr lang="en-US" sz="5600" dirty="0">
                <a:solidFill>
                  <a:srgbClr val="3B3535"/>
                </a:solidFill>
                <a:latin typeface="Alexandria Semi Bold" pitchFamily="34" charset="0"/>
                <a:ea typeface="Alexandria Semi Bold" pitchFamily="34" charset="-122"/>
                <a:cs typeface="Alexandria Semi Bold" pitchFamily="34" charset="-120"/>
              </a:rPr>
              <a:t>303</a:t>
            </a:r>
            <a:endParaRPr lang="en-US" sz="5600" dirty="0"/>
          </a:p>
        </p:txBody>
      </p:sp>
      <p:sp>
        <p:nvSpPr>
          <p:cNvPr id="7" name="Text 5"/>
          <p:cNvSpPr/>
          <p:nvPr/>
        </p:nvSpPr>
        <p:spPr>
          <a:xfrm>
            <a:off x="1428274" y="5010864"/>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Istanze</a:t>
            </a:r>
            <a:endParaRPr lang="en-US" sz="2200" dirty="0"/>
          </a:p>
        </p:txBody>
      </p:sp>
      <p:sp>
        <p:nvSpPr>
          <p:cNvPr id="8" name="Text 6"/>
          <p:cNvSpPr/>
          <p:nvPr/>
        </p:nvSpPr>
        <p:spPr>
          <a:xfrm>
            <a:off x="5219819" y="4025265"/>
            <a:ext cx="4190762" cy="714970"/>
          </a:xfrm>
          <a:prstGeom prst="rect">
            <a:avLst/>
          </a:prstGeom>
          <a:noFill/>
          <a:ln/>
        </p:spPr>
        <p:txBody>
          <a:bodyPr wrap="none" lIns="0" tIns="0" rIns="0" bIns="0" rtlCol="0" anchor="t"/>
          <a:lstStyle/>
          <a:p>
            <a:pPr marL="0" indent="0" algn="ctr">
              <a:lnSpc>
                <a:spcPts val="5600"/>
              </a:lnSpc>
              <a:buNone/>
            </a:pPr>
            <a:r>
              <a:rPr lang="en-US" sz="5600" dirty="0">
                <a:solidFill>
                  <a:srgbClr val="3B3535"/>
                </a:solidFill>
                <a:latin typeface="Alexandria Semi Bold" pitchFamily="34" charset="0"/>
                <a:ea typeface="Alexandria Semi Bold" pitchFamily="34" charset="-122"/>
                <a:cs typeface="Alexandria Semi Bold" pitchFamily="34" charset="-120"/>
              </a:rPr>
              <a:t>14</a:t>
            </a:r>
            <a:endParaRPr lang="en-US" sz="5600" dirty="0"/>
          </a:p>
        </p:txBody>
      </p:sp>
      <p:sp>
        <p:nvSpPr>
          <p:cNvPr id="9" name="Text 7"/>
          <p:cNvSpPr/>
          <p:nvPr/>
        </p:nvSpPr>
        <p:spPr>
          <a:xfrm>
            <a:off x="5889784" y="5010864"/>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Feature</a:t>
            </a:r>
            <a:endParaRPr lang="en-US" sz="2200" dirty="0"/>
          </a:p>
        </p:txBody>
      </p:sp>
      <p:sp>
        <p:nvSpPr>
          <p:cNvPr id="10" name="Text 8"/>
          <p:cNvSpPr/>
          <p:nvPr/>
        </p:nvSpPr>
        <p:spPr>
          <a:xfrm>
            <a:off x="9681329" y="4025265"/>
            <a:ext cx="4190762" cy="714970"/>
          </a:xfrm>
          <a:prstGeom prst="rect">
            <a:avLst/>
          </a:prstGeom>
          <a:noFill/>
          <a:ln/>
        </p:spPr>
        <p:txBody>
          <a:bodyPr wrap="none" lIns="0" tIns="0" rIns="0" bIns="0" rtlCol="0" anchor="t"/>
          <a:lstStyle/>
          <a:p>
            <a:pPr marL="0" indent="0" algn="ctr">
              <a:lnSpc>
                <a:spcPts val="5600"/>
              </a:lnSpc>
              <a:buNone/>
            </a:pPr>
            <a:r>
              <a:rPr lang="en-US" sz="5600" dirty="0">
                <a:solidFill>
                  <a:srgbClr val="3B3535"/>
                </a:solidFill>
                <a:latin typeface="Alexandria Semi Bold" pitchFamily="34" charset="0"/>
                <a:ea typeface="Alexandria Semi Bold" pitchFamily="34" charset="-122"/>
                <a:cs typeface="Alexandria Semi Bold" pitchFamily="34" charset="-120"/>
              </a:rPr>
              <a:t>302</a:t>
            </a:r>
            <a:endParaRPr lang="en-US" sz="5600" dirty="0"/>
          </a:p>
        </p:txBody>
      </p:sp>
      <p:sp>
        <p:nvSpPr>
          <p:cNvPr id="11" name="Text 9"/>
          <p:cNvSpPr/>
          <p:nvPr/>
        </p:nvSpPr>
        <p:spPr>
          <a:xfrm>
            <a:off x="10351294" y="5010864"/>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Record unici</a:t>
            </a:r>
            <a:endParaRPr lang="en-US" sz="2200" dirty="0"/>
          </a:p>
        </p:txBody>
      </p:sp>
      <p:sp>
        <p:nvSpPr>
          <p:cNvPr id="12" name="Text 10"/>
          <p:cNvSpPr/>
          <p:nvPr/>
        </p:nvSpPr>
        <p:spPr>
          <a:xfrm>
            <a:off x="9681329" y="5496997"/>
            <a:ext cx="4190762" cy="346710"/>
          </a:xfrm>
          <a:prstGeom prst="rect">
            <a:avLst/>
          </a:prstGeom>
          <a:noFill/>
          <a:ln/>
        </p:spPr>
        <p:txBody>
          <a:bodyPr wrap="none" lIns="0" tIns="0" rIns="0" bIns="0" rtlCol="0" anchor="t"/>
          <a:lstStyle/>
          <a:p>
            <a:pPr marL="0" indent="0" algn="ctr">
              <a:lnSpc>
                <a:spcPts val="2700"/>
              </a:lnSpc>
              <a:buNone/>
            </a:pPr>
            <a:r>
              <a:rPr lang="en-US" sz="1700" dirty="0">
                <a:solidFill>
                  <a:srgbClr val="3B3535"/>
                </a:solidFill>
                <a:latin typeface="Sora Light" pitchFamily="34" charset="0"/>
                <a:ea typeface="Sora Light" pitchFamily="34" charset="-122"/>
                <a:cs typeface="Sora Light" pitchFamily="34" charset="-120"/>
              </a:rPr>
              <a:t>dopo rimozione duplicati</a:t>
            </a:r>
            <a:endParaRPr lang="en-US" sz="1700" dirty="0"/>
          </a:p>
        </p:txBody>
      </p:sp>
      <p:sp>
        <p:nvSpPr>
          <p:cNvPr id="13" name="Text 11"/>
          <p:cNvSpPr/>
          <p:nvPr/>
        </p:nvSpPr>
        <p:spPr>
          <a:xfrm>
            <a:off x="758309" y="6087428"/>
            <a:ext cx="13113782"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Contiene informazioni cliniche e demografiche: età, sesso, colesterolo, pressione sanguigna e altri parametri cardiaci.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08196"/>
          </a:xfrm>
          <a:prstGeom prst="rect">
            <a:avLst/>
          </a:prstGeom>
        </p:spPr>
      </p:pic>
      <p:sp>
        <p:nvSpPr>
          <p:cNvPr id="3" name="Text 0"/>
          <p:cNvSpPr/>
          <p:nvPr/>
        </p:nvSpPr>
        <p:spPr>
          <a:xfrm>
            <a:off x="758309" y="3840837"/>
            <a:ext cx="6470332"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Le Feature del Dataset</a:t>
            </a:r>
            <a:endParaRPr lang="en-US" sz="4450" dirty="0"/>
          </a:p>
        </p:txBody>
      </p:sp>
      <p:sp>
        <p:nvSpPr>
          <p:cNvPr id="4" name="Shape 1"/>
          <p:cNvSpPr/>
          <p:nvPr/>
        </p:nvSpPr>
        <p:spPr>
          <a:xfrm>
            <a:off x="758309" y="4878467"/>
            <a:ext cx="4226838" cy="1627942"/>
          </a:xfrm>
          <a:prstGeom prst="roundRect">
            <a:avLst>
              <a:gd name="adj" fmla="val 5590"/>
            </a:avLst>
          </a:prstGeom>
          <a:solidFill>
            <a:srgbClr val="D5DCF6"/>
          </a:solidFill>
          <a:ln w="7620">
            <a:solidFill>
              <a:srgbClr val="BBC2DC"/>
            </a:solidFill>
            <a:prstDash val="solid"/>
          </a:ln>
        </p:spPr>
        <p:txBody>
          <a:bodyPr/>
          <a:lstStyle/>
          <a:p>
            <a:endParaRPr lang="it-IT" dirty="0"/>
          </a:p>
        </p:txBody>
      </p:sp>
      <p:sp>
        <p:nvSpPr>
          <p:cNvPr id="5" name="Text 2"/>
          <p:cNvSpPr/>
          <p:nvPr/>
        </p:nvSpPr>
        <p:spPr>
          <a:xfrm>
            <a:off x="982504" y="510266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Demografiche</a:t>
            </a:r>
            <a:endParaRPr lang="en-US" sz="2200" dirty="0"/>
          </a:p>
        </p:txBody>
      </p:sp>
      <p:sp>
        <p:nvSpPr>
          <p:cNvPr id="6" name="Text 3"/>
          <p:cNvSpPr/>
          <p:nvPr/>
        </p:nvSpPr>
        <p:spPr>
          <a:xfrm>
            <a:off x="982504" y="5588794"/>
            <a:ext cx="3778448"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Age, Sex</a:t>
            </a:r>
            <a:endParaRPr lang="en-US" sz="1700" dirty="0"/>
          </a:p>
        </p:txBody>
      </p:sp>
      <p:sp>
        <p:nvSpPr>
          <p:cNvPr id="7" name="Shape 4"/>
          <p:cNvSpPr/>
          <p:nvPr/>
        </p:nvSpPr>
        <p:spPr>
          <a:xfrm>
            <a:off x="5201722" y="4878467"/>
            <a:ext cx="4226838" cy="1627942"/>
          </a:xfrm>
          <a:prstGeom prst="roundRect">
            <a:avLst>
              <a:gd name="adj" fmla="val 5590"/>
            </a:avLst>
          </a:prstGeom>
          <a:solidFill>
            <a:srgbClr val="D5DCF6"/>
          </a:solidFill>
          <a:ln w="7620">
            <a:solidFill>
              <a:srgbClr val="BBC2DC"/>
            </a:solidFill>
            <a:prstDash val="solid"/>
          </a:ln>
        </p:spPr>
        <p:txBody>
          <a:bodyPr/>
          <a:lstStyle/>
          <a:p>
            <a:endParaRPr lang="it-IT" dirty="0"/>
          </a:p>
        </p:txBody>
      </p:sp>
      <p:sp>
        <p:nvSpPr>
          <p:cNvPr id="8" name="Text 5"/>
          <p:cNvSpPr/>
          <p:nvPr/>
        </p:nvSpPr>
        <p:spPr>
          <a:xfrm>
            <a:off x="5425916" y="510266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Cliniche</a:t>
            </a:r>
            <a:endParaRPr lang="en-US" sz="2200" dirty="0"/>
          </a:p>
        </p:txBody>
      </p:sp>
      <p:sp>
        <p:nvSpPr>
          <p:cNvPr id="9" name="Text 6"/>
          <p:cNvSpPr/>
          <p:nvPr/>
        </p:nvSpPr>
        <p:spPr>
          <a:xfrm>
            <a:off x="5425916" y="5588794"/>
            <a:ext cx="3778448"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trtbps, chol, fbs</a:t>
            </a:r>
            <a:endParaRPr lang="en-US" sz="1700" dirty="0"/>
          </a:p>
        </p:txBody>
      </p:sp>
      <p:sp>
        <p:nvSpPr>
          <p:cNvPr id="10" name="Shape 7"/>
          <p:cNvSpPr/>
          <p:nvPr/>
        </p:nvSpPr>
        <p:spPr>
          <a:xfrm>
            <a:off x="9645134" y="4878467"/>
            <a:ext cx="4226957" cy="1627942"/>
          </a:xfrm>
          <a:prstGeom prst="roundRect">
            <a:avLst>
              <a:gd name="adj" fmla="val 5590"/>
            </a:avLst>
          </a:prstGeom>
          <a:solidFill>
            <a:srgbClr val="D5DCF6"/>
          </a:solidFill>
          <a:ln w="7620">
            <a:solidFill>
              <a:srgbClr val="BBC2DC"/>
            </a:solidFill>
            <a:prstDash val="solid"/>
          </a:ln>
        </p:spPr>
        <p:txBody>
          <a:bodyPr/>
          <a:lstStyle/>
          <a:p>
            <a:endParaRPr lang="it-IT" dirty="0"/>
          </a:p>
        </p:txBody>
      </p:sp>
      <p:sp>
        <p:nvSpPr>
          <p:cNvPr id="11" name="Text 8"/>
          <p:cNvSpPr/>
          <p:nvPr/>
        </p:nvSpPr>
        <p:spPr>
          <a:xfrm>
            <a:off x="9869329" y="510266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Diagnostiche</a:t>
            </a:r>
            <a:endParaRPr lang="en-US" sz="2200" dirty="0"/>
          </a:p>
        </p:txBody>
      </p:sp>
      <p:sp>
        <p:nvSpPr>
          <p:cNvPr id="12" name="Text 9"/>
          <p:cNvSpPr/>
          <p:nvPr/>
        </p:nvSpPr>
        <p:spPr>
          <a:xfrm>
            <a:off x="9869329" y="5588794"/>
            <a:ext cx="3778568"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cp, rest_ecg, thalach, exang, oldpeak, slope, ca, thal</a:t>
            </a:r>
            <a:endParaRPr lang="en-US" sz="1700" dirty="0"/>
          </a:p>
        </p:txBody>
      </p:sp>
      <p:sp>
        <p:nvSpPr>
          <p:cNvPr id="13" name="Text 10"/>
          <p:cNvSpPr/>
          <p:nvPr/>
        </p:nvSpPr>
        <p:spPr>
          <a:xfrm>
            <a:off x="758309" y="6750129"/>
            <a:ext cx="13113782" cy="346710"/>
          </a:xfrm>
          <a:prstGeom prst="rect">
            <a:avLst/>
          </a:prstGeom>
          <a:noFill/>
          <a:ln/>
        </p:spPr>
        <p:txBody>
          <a:bodyPr wrap="none" lIns="0" tIns="0" rIns="0" bIns="0" rtlCol="0" anchor="t"/>
          <a:lstStyle/>
          <a:p>
            <a:pPr marL="0" indent="0" algn="l">
              <a:lnSpc>
                <a:spcPts val="2700"/>
              </a:lnSpc>
              <a:buNone/>
            </a:pPr>
            <a:r>
              <a:rPr lang="en-US" sz="1700" b="1" dirty="0">
                <a:solidFill>
                  <a:srgbClr val="3B3535"/>
                </a:solidFill>
                <a:latin typeface="Sora ExtraBold" pitchFamily="2" charset="0"/>
                <a:ea typeface="Sora Light" pitchFamily="34" charset="-122"/>
                <a:cs typeface="Sora ExtraBold" pitchFamily="2" charset="0"/>
              </a:rPr>
              <a:t>Variabile Target</a:t>
            </a:r>
            <a:r>
              <a:rPr lang="en-US" sz="1700" b="1" dirty="0">
                <a:solidFill>
                  <a:srgbClr val="3B3535"/>
                </a:solidFill>
                <a:latin typeface="Sora Light" pitchFamily="34" charset="0"/>
                <a:ea typeface="Sora Light" pitchFamily="34" charset="-122"/>
                <a:cs typeface="Sora Light" pitchFamily="34" charset="-120"/>
              </a:rPr>
              <a:t>:</a:t>
            </a:r>
            <a:r>
              <a:rPr lang="en-US" sz="1700" dirty="0">
                <a:solidFill>
                  <a:srgbClr val="3B3535"/>
                </a:solidFill>
                <a:latin typeface="Sora Light" pitchFamily="34" charset="0"/>
                <a:ea typeface="Sora Light" pitchFamily="34" charset="-122"/>
                <a:cs typeface="Sora Light" pitchFamily="34" charset="-120"/>
              </a:rPr>
              <a:t> 0 = bassa probabilità di attacco | 1 = alta probabilità di attacco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2617470"/>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Data Cleaning</a:t>
            </a:r>
            <a:endParaRPr lang="en-US" sz="4450" dirty="0"/>
          </a:p>
        </p:txBody>
      </p:sp>
      <p:sp>
        <p:nvSpPr>
          <p:cNvPr id="3" name="Text 1"/>
          <p:cNvSpPr/>
          <p:nvPr/>
        </p:nvSpPr>
        <p:spPr>
          <a:xfrm>
            <a:off x="758309" y="3763447"/>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Alexandria Light" pitchFamily="34" charset="0"/>
                <a:ea typeface="Alexandria Light" pitchFamily="34" charset="-122"/>
                <a:cs typeface="Alexandria Light" pitchFamily="34" charset="-120"/>
              </a:rPr>
              <a:t>01</a:t>
            </a:r>
            <a:endParaRPr lang="en-US" sz="1700" dirty="0"/>
          </a:p>
        </p:txBody>
      </p:sp>
      <p:sp>
        <p:nvSpPr>
          <p:cNvPr id="4" name="Shape 2"/>
          <p:cNvSpPr/>
          <p:nvPr/>
        </p:nvSpPr>
        <p:spPr>
          <a:xfrm>
            <a:off x="758309" y="4100989"/>
            <a:ext cx="4226838" cy="30480"/>
          </a:xfrm>
          <a:prstGeom prst="rect">
            <a:avLst/>
          </a:prstGeom>
          <a:solidFill>
            <a:srgbClr val="1A2D7A"/>
          </a:solidFill>
          <a:ln/>
        </p:spPr>
        <p:txBody>
          <a:bodyPr/>
          <a:lstStyle/>
          <a:p>
            <a:endParaRPr lang="it-IT" dirty="0"/>
          </a:p>
        </p:txBody>
      </p:sp>
      <p:sp>
        <p:nvSpPr>
          <p:cNvPr id="5" name="Text 3"/>
          <p:cNvSpPr/>
          <p:nvPr/>
        </p:nvSpPr>
        <p:spPr>
          <a:xfrm>
            <a:off x="758309" y="4270177"/>
            <a:ext cx="2940248"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Rimozione Duplicati</a:t>
            </a:r>
            <a:endParaRPr lang="en-US" sz="2200" dirty="0"/>
          </a:p>
        </p:txBody>
      </p:sp>
      <p:sp>
        <p:nvSpPr>
          <p:cNvPr id="6" name="Text 4"/>
          <p:cNvSpPr/>
          <p:nvPr/>
        </p:nvSpPr>
        <p:spPr>
          <a:xfrm>
            <a:off x="758309" y="4756309"/>
            <a:ext cx="4226838"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1 riga duplicata rimossa su 303 totali</a:t>
            </a:r>
            <a:endParaRPr lang="en-US" sz="1700" dirty="0"/>
          </a:p>
        </p:txBody>
      </p:sp>
      <p:sp>
        <p:nvSpPr>
          <p:cNvPr id="7" name="Text 5"/>
          <p:cNvSpPr/>
          <p:nvPr/>
        </p:nvSpPr>
        <p:spPr>
          <a:xfrm>
            <a:off x="5201722" y="3763447"/>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Alexandria Light" pitchFamily="34" charset="0"/>
                <a:ea typeface="Alexandria Light" pitchFamily="34" charset="-122"/>
                <a:cs typeface="Alexandria Light" pitchFamily="34" charset="-120"/>
              </a:rPr>
              <a:t>02</a:t>
            </a:r>
            <a:endParaRPr lang="en-US" sz="1700" dirty="0"/>
          </a:p>
        </p:txBody>
      </p:sp>
      <p:sp>
        <p:nvSpPr>
          <p:cNvPr id="8" name="Shape 6"/>
          <p:cNvSpPr/>
          <p:nvPr/>
        </p:nvSpPr>
        <p:spPr>
          <a:xfrm>
            <a:off x="5201722" y="4100989"/>
            <a:ext cx="4226838" cy="30480"/>
          </a:xfrm>
          <a:prstGeom prst="rect">
            <a:avLst/>
          </a:prstGeom>
          <a:solidFill>
            <a:srgbClr val="1A2D7A"/>
          </a:solidFill>
          <a:ln/>
        </p:spPr>
        <p:txBody>
          <a:bodyPr/>
          <a:lstStyle/>
          <a:p>
            <a:endParaRPr lang="it-IT" dirty="0"/>
          </a:p>
        </p:txBody>
      </p:sp>
      <p:sp>
        <p:nvSpPr>
          <p:cNvPr id="9" name="Text 7"/>
          <p:cNvSpPr/>
          <p:nvPr/>
        </p:nvSpPr>
        <p:spPr>
          <a:xfrm>
            <a:off x="5201722" y="4270177"/>
            <a:ext cx="3008590"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Controllo Valori Nulli</a:t>
            </a:r>
            <a:endParaRPr lang="en-US" sz="2200" dirty="0"/>
          </a:p>
        </p:txBody>
      </p:sp>
      <p:sp>
        <p:nvSpPr>
          <p:cNvPr id="10" name="Text 8"/>
          <p:cNvSpPr/>
          <p:nvPr/>
        </p:nvSpPr>
        <p:spPr>
          <a:xfrm>
            <a:off x="5201722" y="4756309"/>
            <a:ext cx="4226838"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Nessun valore nullo significativo rilevato</a:t>
            </a:r>
            <a:endParaRPr lang="en-US" sz="1700" dirty="0"/>
          </a:p>
        </p:txBody>
      </p:sp>
      <p:sp>
        <p:nvSpPr>
          <p:cNvPr id="11" name="Text 9"/>
          <p:cNvSpPr/>
          <p:nvPr/>
        </p:nvSpPr>
        <p:spPr>
          <a:xfrm>
            <a:off x="9645134" y="3763447"/>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Alexandria Light" pitchFamily="34" charset="0"/>
                <a:ea typeface="Alexandria Light" pitchFamily="34" charset="-122"/>
                <a:cs typeface="Alexandria Light" pitchFamily="34" charset="-120"/>
              </a:rPr>
              <a:t>03</a:t>
            </a:r>
            <a:endParaRPr lang="en-US" sz="1700" dirty="0"/>
          </a:p>
        </p:txBody>
      </p:sp>
      <p:sp>
        <p:nvSpPr>
          <p:cNvPr id="12" name="Shape 10"/>
          <p:cNvSpPr/>
          <p:nvPr/>
        </p:nvSpPr>
        <p:spPr>
          <a:xfrm>
            <a:off x="9645134" y="4100989"/>
            <a:ext cx="4226957" cy="30480"/>
          </a:xfrm>
          <a:prstGeom prst="rect">
            <a:avLst/>
          </a:prstGeom>
          <a:solidFill>
            <a:srgbClr val="1A2D7A"/>
          </a:solidFill>
          <a:ln/>
        </p:spPr>
        <p:txBody>
          <a:bodyPr/>
          <a:lstStyle/>
          <a:p>
            <a:endParaRPr lang="it-IT" dirty="0"/>
          </a:p>
        </p:txBody>
      </p:sp>
      <p:sp>
        <p:nvSpPr>
          <p:cNvPr id="13" name="Text 11"/>
          <p:cNvSpPr/>
          <p:nvPr/>
        </p:nvSpPr>
        <p:spPr>
          <a:xfrm>
            <a:off x="9645134" y="427017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Analisi Outlier</a:t>
            </a:r>
            <a:endParaRPr lang="en-US" sz="2200" dirty="0"/>
          </a:p>
        </p:txBody>
      </p:sp>
      <p:sp>
        <p:nvSpPr>
          <p:cNvPr id="14" name="Text 12"/>
          <p:cNvSpPr/>
          <p:nvPr/>
        </p:nvSpPr>
        <p:spPr>
          <a:xfrm>
            <a:off x="9645134" y="4756309"/>
            <a:ext cx="4226957"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Metodo IQR applicato; outlier mantenuti come casi clinici reali</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2825" y="544354"/>
            <a:ext cx="8967311" cy="651272"/>
          </a:xfrm>
          <a:prstGeom prst="rect">
            <a:avLst/>
          </a:prstGeom>
          <a:noFill/>
          <a:ln/>
        </p:spPr>
        <p:txBody>
          <a:bodyPr wrap="none" lIns="0" tIns="0" rIns="0" bIns="0" rtlCol="0" anchor="t"/>
          <a:lstStyle/>
          <a:p>
            <a:pPr marL="0" indent="0" algn="l">
              <a:lnSpc>
                <a:spcPts val="5100"/>
              </a:lnSpc>
              <a:buNone/>
            </a:pPr>
            <a:r>
              <a:rPr lang="en-US" sz="4100" dirty="0">
                <a:solidFill>
                  <a:srgbClr val="1F1E1E"/>
                </a:solidFill>
                <a:latin typeface="Alexandria Semi Bold" pitchFamily="34" charset="0"/>
                <a:ea typeface="Alexandria Semi Bold" pitchFamily="34" charset="-122"/>
                <a:cs typeface="Alexandria Semi Bold" pitchFamily="34" charset="-120"/>
              </a:rPr>
              <a:t>Analisi della Variabile Dipendente</a:t>
            </a:r>
            <a:endParaRPr lang="en-US" sz="4100" dirty="0"/>
          </a:p>
        </p:txBody>
      </p:sp>
      <p:sp>
        <p:nvSpPr>
          <p:cNvPr id="4" name="Text 1"/>
          <p:cNvSpPr/>
          <p:nvPr/>
        </p:nvSpPr>
        <p:spPr>
          <a:xfrm>
            <a:off x="7564279" y="1690449"/>
            <a:ext cx="2627114" cy="325636"/>
          </a:xfrm>
          <a:prstGeom prst="rect">
            <a:avLst/>
          </a:prstGeom>
          <a:noFill/>
          <a:ln/>
        </p:spPr>
        <p:txBody>
          <a:bodyPr wrap="none" lIns="0" tIns="0" rIns="0" bIns="0" rtlCol="0" anchor="t"/>
          <a:lstStyle/>
          <a:p>
            <a:pPr marL="0" indent="0" algn="l">
              <a:lnSpc>
                <a:spcPts val="2550"/>
              </a:lnSpc>
              <a:buNone/>
            </a:pPr>
            <a:r>
              <a:rPr lang="en-US" sz="2050" dirty="0">
                <a:solidFill>
                  <a:srgbClr val="1F1E1E"/>
                </a:solidFill>
                <a:latin typeface="Alexandria Semi Bold" pitchFamily="34" charset="0"/>
                <a:ea typeface="Alexandria Semi Bold" pitchFamily="34" charset="-122"/>
                <a:cs typeface="Alexandria Semi Bold" pitchFamily="34" charset="-120"/>
              </a:rPr>
              <a:t>Osservazioni Chiave</a:t>
            </a:r>
            <a:endParaRPr lang="en-US" sz="2050" dirty="0"/>
          </a:p>
        </p:txBody>
      </p:sp>
      <p:sp>
        <p:nvSpPr>
          <p:cNvPr id="5" name="Text 2"/>
          <p:cNvSpPr/>
          <p:nvPr/>
        </p:nvSpPr>
        <p:spPr>
          <a:xfrm>
            <a:off x="7564279" y="2213967"/>
            <a:ext cx="6380917" cy="316706"/>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3B3535"/>
                </a:solidFill>
                <a:latin typeface="Sora Light" pitchFamily="34" charset="0"/>
                <a:ea typeface="Sora Light" pitchFamily="34" charset="-122"/>
                <a:cs typeface="Sora Light" pitchFamily="34" charset="-120"/>
              </a:rPr>
              <a:t>Dataset bilanciato tra classi 0 e 1</a:t>
            </a:r>
            <a:endParaRPr lang="en-US" sz="1550" dirty="0"/>
          </a:p>
        </p:txBody>
      </p:sp>
      <p:sp>
        <p:nvSpPr>
          <p:cNvPr id="6" name="Text 3"/>
          <p:cNvSpPr/>
          <p:nvPr/>
        </p:nvSpPr>
        <p:spPr>
          <a:xfrm>
            <a:off x="7564279" y="2599849"/>
            <a:ext cx="6380917" cy="316706"/>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3B3535"/>
                </a:solidFill>
                <a:latin typeface="Sora Light" pitchFamily="34" charset="0"/>
                <a:ea typeface="Sora Light" pitchFamily="34" charset="-122"/>
                <a:cs typeface="Sora Light" pitchFamily="34" charset="-120"/>
              </a:rPr>
              <a:t>Età 50-65: maggiore concentrazione attacchi</a:t>
            </a:r>
            <a:endParaRPr lang="en-US" sz="1550" dirty="0"/>
          </a:p>
        </p:txBody>
      </p:sp>
      <p:sp>
        <p:nvSpPr>
          <p:cNvPr id="7" name="Text 4"/>
          <p:cNvSpPr/>
          <p:nvPr/>
        </p:nvSpPr>
        <p:spPr>
          <a:xfrm>
            <a:off x="7564279" y="2985730"/>
            <a:ext cx="6380917" cy="316706"/>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3B3535"/>
                </a:solidFill>
                <a:latin typeface="Sora Light" pitchFamily="34" charset="0"/>
                <a:ea typeface="Sora Light" pitchFamily="34" charset="-122"/>
                <a:cs typeface="Sora Light" pitchFamily="34" charset="-120"/>
              </a:rPr>
              <a:t>Maschi: maggiore probabilità di attacco</a:t>
            </a:r>
            <a:endParaRPr lang="en-US" sz="1550" dirty="0"/>
          </a:p>
        </p:txBody>
      </p:sp>
      <p:sp>
        <p:nvSpPr>
          <p:cNvPr id="8" name="Text 5"/>
          <p:cNvSpPr/>
          <p:nvPr/>
        </p:nvSpPr>
        <p:spPr>
          <a:xfrm>
            <a:off x="7564279" y="3371612"/>
            <a:ext cx="6380917" cy="316706"/>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rgbClr val="3B3535"/>
                </a:solidFill>
                <a:latin typeface="Sora Light" pitchFamily="34" charset="0"/>
                <a:ea typeface="Sora Light" pitchFamily="34" charset="-122"/>
                <a:cs typeface="Sora Light" pitchFamily="34" charset="-120"/>
              </a:rPr>
              <a:t>Età e sesso sono variabili predittive importanti</a:t>
            </a:r>
            <a:endParaRPr lang="en-US" sz="1550" dirty="0"/>
          </a:p>
        </p:txBody>
      </p:sp>
      <p:pic>
        <p:nvPicPr>
          <p:cNvPr id="10" name="Immagine 9" descr="Immagine che contiene testo, schermata, diagramma, Diagramma&#10;&#10;Il contenuto generato dall'IA potrebbe non essere corretto.">
            <a:extLst>
              <a:ext uri="{FF2B5EF4-FFF2-40B4-BE49-F238E27FC236}">
                <a16:creationId xmlns:a16="http://schemas.microsoft.com/office/drawing/2014/main" id="{4614E180-0FD8-A664-4885-F69ED593BDDB}"/>
              </a:ext>
            </a:extLst>
          </p:cNvPr>
          <p:cNvPicPr>
            <a:picLocks noChangeAspect="1"/>
          </p:cNvPicPr>
          <p:nvPr/>
        </p:nvPicPr>
        <p:blipFill>
          <a:blip r:embed="rId3"/>
          <a:stretch>
            <a:fillRect/>
          </a:stretch>
        </p:blipFill>
        <p:spPr>
          <a:xfrm>
            <a:off x="5481029" y="4642581"/>
            <a:ext cx="4515010" cy="3043900"/>
          </a:xfrm>
          <a:prstGeom prst="rect">
            <a:avLst/>
          </a:prstGeom>
        </p:spPr>
      </p:pic>
      <p:pic>
        <p:nvPicPr>
          <p:cNvPr id="12" name="Immagine 11" descr="Immagine che contiene testo, schermata, diagramma, Rettangolo&#10;&#10;Il contenuto generato dall'IA potrebbe non essere corretto.">
            <a:extLst>
              <a:ext uri="{FF2B5EF4-FFF2-40B4-BE49-F238E27FC236}">
                <a16:creationId xmlns:a16="http://schemas.microsoft.com/office/drawing/2014/main" id="{6A978068-1253-339D-2831-67CFB2F2AF9C}"/>
              </a:ext>
            </a:extLst>
          </p:cNvPr>
          <p:cNvPicPr>
            <a:picLocks noChangeAspect="1"/>
          </p:cNvPicPr>
          <p:nvPr/>
        </p:nvPicPr>
        <p:blipFill>
          <a:blip r:embed="rId4"/>
          <a:stretch>
            <a:fillRect/>
          </a:stretch>
        </p:blipFill>
        <p:spPr>
          <a:xfrm>
            <a:off x="661470" y="4301466"/>
            <a:ext cx="4515010" cy="3273521"/>
          </a:xfrm>
          <a:prstGeom prst="rect">
            <a:avLst/>
          </a:prstGeom>
        </p:spPr>
      </p:pic>
      <p:pic>
        <p:nvPicPr>
          <p:cNvPr id="14" name="Immagine 13" descr="Immagine che contiene testo, diagramma, schermata, Diagramma&#10;&#10;Il contenuto generato dall'IA potrebbe non essere corretto.">
            <a:extLst>
              <a:ext uri="{FF2B5EF4-FFF2-40B4-BE49-F238E27FC236}">
                <a16:creationId xmlns:a16="http://schemas.microsoft.com/office/drawing/2014/main" id="{142FB90D-0D1E-4D3A-C15F-765A40DC845E}"/>
              </a:ext>
            </a:extLst>
          </p:cNvPr>
          <p:cNvPicPr>
            <a:picLocks noChangeAspect="1"/>
          </p:cNvPicPr>
          <p:nvPr/>
        </p:nvPicPr>
        <p:blipFill>
          <a:blip r:embed="rId5"/>
          <a:stretch>
            <a:fillRect/>
          </a:stretch>
        </p:blipFill>
        <p:spPr>
          <a:xfrm>
            <a:off x="953220" y="1350587"/>
            <a:ext cx="4223260" cy="28886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758309" y="2710696"/>
            <a:ext cx="5701546" cy="712708"/>
          </a:xfrm>
          <a:prstGeom prst="rect">
            <a:avLst/>
          </a:prstGeom>
          <a:noFill/>
          <a:ln/>
        </p:spPr>
        <p:txBody>
          <a:bodyPr wrap="none" lIns="0" tIns="0" rIns="0" bIns="0" rtlCol="0" anchor="t"/>
          <a:lstStyle/>
          <a:p>
            <a:pPr marL="0" indent="0" algn="l">
              <a:lnSpc>
                <a:spcPts val="5600"/>
              </a:lnSpc>
              <a:buNone/>
            </a:pPr>
            <a:r>
              <a:rPr lang="en-US" sz="4450" dirty="0" err="1">
                <a:solidFill>
                  <a:srgbClr val="1F1E1E"/>
                </a:solidFill>
                <a:latin typeface="Alexandria Semi Bold" pitchFamily="34" charset="0"/>
                <a:ea typeface="Alexandria Semi Bold" pitchFamily="34" charset="-122"/>
                <a:cs typeface="Alexandria Semi Bold" pitchFamily="34" charset="-120"/>
              </a:rPr>
              <a:t>Classificatori</a:t>
            </a:r>
            <a:r>
              <a:rPr lang="en-US" sz="4450" dirty="0">
                <a:solidFill>
                  <a:srgbClr val="1F1E1E"/>
                </a:solidFill>
                <a:latin typeface="Alexandria Semi Bold" pitchFamily="34" charset="0"/>
                <a:ea typeface="Alexandria Semi Bold" pitchFamily="34" charset="-122"/>
                <a:cs typeface="Alexandria Semi Bold" pitchFamily="34" charset="-120"/>
              </a:rPr>
              <a:t> </a:t>
            </a:r>
            <a:r>
              <a:rPr lang="en-US" sz="4450" dirty="0" err="1">
                <a:solidFill>
                  <a:srgbClr val="1F1E1E"/>
                </a:solidFill>
                <a:latin typeface="Alexandria Semi Bold" pitchFamily="34" charset="0"/>
                <a:ea typeface="Alexandria Semi Bold" pitchFamily="34" charset="-122"/>
                <a:cs typeface="Alexandria Semi Bold" pitchFamily="34" charset="-120"/>
              </a:rPr>
              <a:t>Modelli</a:t>
            </a:r>
            <a:r>
              <a:rPr lang="en-US" sz="4450" dirty="0">
                <a:solidFill>
                  <a:srgbClr val="1F1E1E"/>
                </a:solidFill>
                <a:latin typeface="Alexandria Semi Bold" pitchFamily="34" charset="0"/>
                <a:ea typeface="Alexandria Semi Bold" pitchFamily="34" charset="-122"/>
                <a:cs typeface="Alexandria Semi Bold" pitchFamily="34" charset="-120"/>
              </a:rPr>
              <a:t> Scelti</a:t>
            </a:r>
            <a:endParaRPr lang="en-US" sz="4450" dirty="0"/>
          </a:p>
        </p:txBody>
      </p:sp>
      <p:sp>
        <p:nvSpPr>
          <p:cNvPr id="5" name="Shape 3"/>
          <p:cNvSpPr/>
          <p:nvPr/>
        </p:nvSpPr>
        <p:spPr>
          <a:xfrm>
            <a:off x="758309" y="3748326"/>
            <a:ext cx="6448544" cy="1673662"/>
          </a:xfrm>
          <a:prstGeom prst="roundRect">
            <a:avLst>
              <a:gd name="adj" fmla="val 8742"/>
            </a:avLst>
          </a:prstGeom>
          <a:solidFill>
            <a:srgbClr val="FFFAFA"/>
          </a:solidFill>
          <a:ln w="30480">
            <a:solidFill>
              <a:srgbClr val="BBC2DC"/>
            </a:solidFill>
            <a:prstDash val="solid"/>
          </a:ln>
        </p:spPr>
        <p:txBody>
          <a:bodyPr/>
          <a:lstStyle/>
          <a:p>
            <a:endParaRPr lang="it-IT" dirty="0"/>
          </a:p>
        </p:txBody>
      </p:sp>
      <p:sp>
        <p:nvSpPr>
          <p:cNvPr id="6" name="Shape 4"/>
          <p:cNvSpPr/>
          <p:nvPr/>
        </p:nvSpPr>
        <p:spPr>
          <a:xfrm>
            <a:off x="727829" y="3748326"/>
            <a:ext cx="121920" cy="1673662"/>
          </a:xfrm>
          <a:prstGeom prst="roundRect">
            <a:avLst>
              <a:gd name="adj" fmla="val 74638"/>
            </a:avLst>
          </a:prstGeom>
          <a:solidFill>
            <a:srgbClr val="1A2D7A"/>
          </a:solidFill>
          <a:ln/>
        </p:spPr>
        <p:txBody>
          <a:bodyPr/>
          <a:lstStyle/>
          <a:p>
            <a:endParaRPr lang="it-IT" dirty="0"/>
          </a:p>
        </p:txBody>
      </p:sp>
      <p:sp>
        <p:nvSpPr>
          <p:cNvPr id="7" name="Text 5"/>
          <p:cNvSpPr/>
          <p:nvPr/>
        </p:nvSpPr>
        <p:spPr>
          <a:xfrm>
            <a:off x="1096804" y="399538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Decision Tree</a:t>
            </a:r>
            <a:endParaRPr lang="en-US" sz="2200" dirty="0"/>
          </a:p>
        </p:txBody>
      </p:sp>
      <p:sp>
        <p:nvSpPr>
          <p:cNvPr id="8" name="Text 6"/>
          <p:cNvSpPr/>
          <p:nvPr/>
        </p:nvSpPr>
        <p:spPr>
          <a:xfrm>
            <a:off x="1096804" y="4481513"/>
            <a:ext cx="5862995"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Modello base con alta interpretabilità. Costruisce regole decisionali tramite algoritmo CART.</a:t>
            </a:r>
            <a:endParaRPr lang="en-US" sz="1700" dirty="0"/>
          </a:p>
        </p:txBody>
      </p:sp>
      <p:sp>
        <p:nvSpPr>
          <p:cNvPr id="9" name="Shape 7"/>
          <p:cNvSpPr/>
          <p:nvPr/>
        </p:nvSpPr>
        <p:spPr>
          <a:xfrm>
            <a:off x="7423428" y="3748326"/>
            <a:ext cx="6448663" cy="1673662"/>
          </a:xfrm>
          <a:prstGeom prst="roundRect">
            <a:avLst>
              <a:gd name="adj" fmla="val 8742"/>
            </a:avLst>
          </a:prstGeom>
          <a:solidFill>
            <a:srgbClr val="FFFAFA"/>
          </a:solidFill>
          <a:ln w="30480">
            <a:solidFill>
              <a:srgbClr val="BBC2DC"/>
            </a:solidFill>
            <a:prstDash val="solid"/>
          </a:ln>
        </p:spPr>
        <p:txBody>
          <a:bodyPr/>
          <a:lstStyle/>
          <a:p>
            <a:endParaRPr lang="it-IT" dirty="0"/>
          </a:p>
        </p:txBody>
      </p:sp>
      <p:sp>
        <p:nvSpPr>
          <p:cNvPr id="10" name="Shape 8"/>
          <p:cNvSpPr/>
          <p:nvPr/>
        </p:nvSpPr>
        <p:spPr>
          <a:xfrm>
            <a:off x="7392948" y="3748326"/>
            <a:ext cx="121920" cy="1673662"/>
          </a:xfrm>
          <a:prstGeom prst="roundRect">
            <a:avLst>
              <a:gd name="adj" fmla="val 74638"/>
            </a:avLst>
          </a:prstGeom>
          <a:solidFill>
            <a:srgbClr val="1A2D7A"/>
          </a:solidFill>
          <a:ln/>
        </p:spPr>
        <p:txBody>
          <a:bodyPr/>
          <a:lstStyle/>
          <a:p>
            <a:endParaRPr lang="it-IT" dirty="0"/>
          </a:p>
        </p:txBody>
      </p:sp>
      <p:sp>
        <p:nvSpPr>
          <p:cNvPr id="11" name="Text 9"/>
          <p:cNvSpPr/>
          <p:nvPr/>
        </p:nvSpPr>
        <p:spPr>
          <a:xfrm>
            <a:off x="7761923" y="399538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Random Forest</a:t>
            </a:r>
            <a:endParaRPr lang="en-US" sz="2200" dirty="0"/>
          </a:p>
        </p:txBody>
      </p:sp>
      <p:sp>
        <p:nvSpPr>
          <p:cNvPr id="12" name="Text 10"/>
          <p:cNvSpPr/>
          <p:nvPr/>
        </p:nvSpPr>
        <p:spPr>
          <a:xfrm>
            <a:off x="7761923" y="4481513"/>
            <a:ext cx="5863114"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Ensemble di 100 alberi con bootstrap sampling. Riduce overfitting e migliora accuratezza.</a:t>
            </a:r>
            <a:endParaRPr lang="en-US" sz="1700" dirty="0"/>
          </a:p>
        </p:txBody>
      </p:sp>
      <p:sp>
        <p:nvSpPr>
          <p:cNvPr id="13" name="Text 11"/>
          <p:cNvSpPr/>
          <p:nvPr/>
        </p:nvSpPr>
        <p:spPr>
          <a:xfrm>
            <a:off x="758309" y="5665708"/>
            <a:ext cx="13113782" cy="346710"/>
          </a:xfrm>
          <a:prstGeom prst="rect">
            <a:avLst/>
          </a:prstGeom>
          <a:noFill/>
          <a:ln/>
        </p:spPr>
        <p:txBody>
          <a:bodyPr wrap="none" lIns="0" tIns="0" rIns="0" bIns="0" rtlCol="0" anchor="t"/>
          <a:lstStyle/>
          <a:p>
            <a:pPr marL="0" indent="0" algn="l">
              <a:lnSpc>
                <a:spcPts val="2700"/>
              </a:lnSpc>
              <a:buNone/>
            </a:pPr>
            <a:r>
              <a:rPr lang="en-US" sz="1700" b="1" dirty="0">
                <a:solidFill>
                  <a:srgbClr val="3B3535"/>
                </a:solidFill>
                <a:latin typeface="Sora Light" pitchFamily="34" charset="0"/>
                <a:ea typeface="Sora Light" pitchFamily="34" charset="-122"/>
                <a:cs typeface="Sora Light" pitchFamily="34" charset="-120"/>
              </a:rPr>
              <a:t>Split:</a:t>
            </a:r>
            <a:r>
              <a:rPr lang="en-US" sz="1700" dirty="0">
                <a:solidFill>
                  <a:srgbClr val="3B3535"/>
                </a:solidFill>
                <a:latin typeface="Sora Light" pitchFamily="34" charset="0"/>
                <a:ea typeface="Sora Light" pitchFamily="34" charset="-122"/>
                <a:cs typeface="Sora Light" pitchFamily="34" charset="-120"/>
              </a:rPr>
              <a:t> 80% training set | 20% test set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900919" y="121202"/>
            <a:ext cx="7575113"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Risultati della Valutazione</a:t>
            </a:r>
            <a:endParaRPr lang="en-US" sz="4450" dirty="0"/>
          </a:p>
        </p:txBody>
      </p:sp>
      <p:pic>
        <p:nvPicPr>
          <p:cNvPr id="4" name="Image 1" descr="preencoded.png"/>
          <p:cNvPicPr>
            <a:picLocks noChangeAspect="1"/>
          </p:cNvPicPr>
          <p:nvPr/>
        </p:nvPicPr>
        <p:blipFill>
          <a:blip r:embed="rId3"/>
          <a:stretch>
            <a:fillRect/>
          </a:stretch>
        </p:blipFill>
        <p:spPr>
          <a:xfrm>
            <a:off x="748329" y="2615018"/>
            <a:ext cx="1124620" cy="2304000"/>
          </a:xfrm>
          <a:prstGeom prst="rect">
            <a:avLst/>
          </a:prstGeom>
        </p:spPr>
      </p:pic>
      <p:sp>
        <p:nvSpPr>
          <p:cNvPr id="5" name="Text 1"/>
          <p:cNvSpPr/>
          <p:nvPr/>
        </p:nvSpPr>
        <p:spPr>
          <a:xfrm>
            <a:off x="2091293" y="2693678"/>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Decision Tree</a:t>
            </a:r>
            <a:endParaRPr lang="en-US" sz="2200" dirty="0"/>
          </a:p>
        </p:txBody>
      </p:sp>
      <p:sp>
        <p:nvSpPr>
          <p:cNvPr id="6" name="Text 2"/>
          <p:cNvSpPr/>
          <p:nvPr/>
        </p:nvSpPr>
        <p:spPr>
          <a:xfrm>
            <a:off x="2091293" y="3096231"/>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Accuracy: 0.721</a:t>
            </a:r>
            <a:endParaRPr lang="en-US" sz="1700" dirty="0"/>
          </a:p>
        </p:txBody>
      </p:sp>
      <p:sp>
        <p:nvSpPr>
          <p:cNvPr id="7" name="Text 3"/>
          <p:cNvSpPr/>
          <p:nvPr/>
        </p:nvSpPr>
        <p:spPr>
          <a:xfrm>
            <a:off x="2058112" y="3638125"/>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Precision: 0.711</a:t>
            </a:r>
            <a:endParaRPr lang="en-US" sz="1700" dirty="0"/>
          </a:p>
        </p:txBody>
      </p:sp>
      <p:sp>
        <p:nvSpPr>
          <p:cNvPr id="8" name="Text 4"/>
          <p:cNvSpPr/>
          <p:nvPr/>
        </p:nvSpPr>
        <p:spPr>
          <a:xfrm>
            <a:off x="2058114" y="4065884"/>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cs typeface="Sora Light" pitchFamily="34" charset="-120"/>
              </a:rPr>
              <a:t>Recall :0.818</a:t>
            </a:r>
            <a:endParaRPr lang="en-US" sz="1700" dirty="0"/>
          </a:p>
        </p:txBody>
      </p:sp>
      <p:pic>
        <p:nvPicPr>
          <p:cNvPr id="15" name="Immagine 14" descr="Immagine che contiene testo, schermata, diagramma, Carattere&#10;&#10;Il contenuto generato dall'IA potrebbe non essere corretto.">
            <a:extLst>
              <a:ext uri="{FF2B5EF4-FFF2-40B4-BE49-F238E27FC236}">
                <a16:creationId xmlns:a16="http://schemas.microsoft.com/office/drawing/2014/main" id="{B06DB504-FCC8-B0FB-BE46-C3679DA77CF5}"/>
              </a:ext>
            </a:extLst>
          </p:cNvPr>
          <p:cNvPicPr>
            <a:picLocks noChangeAspect="1"/>
          </p:cNvPicPr>
          <p:nvPr/>
        </p:nvPicPr>
        <p:blipFill>
          <a:blip r:embed="rId4"/>
          <a:stretch>
            <a:fillRect/>
          </a:stretch>
        </p:blipFill>
        <p:spPr>
          <a:xfrm>
            <a:off x="4688475" y="810799"/>
            <a:ext cx="4013877" cy="3506924"/>
          </a:xfrm>
          <a:prstGeom prst="rect">
            <a:avLst/>
          </a:prstGeom>
        </p:spPr>
      </p:pic>
      <p:pic>
        <p:nvPicPr>
          <p:cNvPr id="17" name="Immagine 16" descr="Immagine che contiene testo, schermata, diagramma, Carattere&#10;&#10;Il contenuto generato dall'IA potrebbe non essere corretto.">
            <a:extLst>
              <a:ext uri="{FF2B5EF4-FFF2-40B4-BE49-F238E27FC236}">
                <a16:creationId xmlns:a16="http://schemas.microsoft.com/office/drawing/2014/main" id="{C305B95E-99B1-9EC5-5AD3-B217FB061F50}"/>
              </a:ext>
            </a:extLst>
          </p:cNvPr>
          <p:cNvPicPr>
            <a:picLocks noChangeAspect="1"/>
          </p:cNvPicPr>
          <p:nvPr/>
        </p:nvPicPr>
        <p:blipFill>
          <a:blip r:embed="rId5"/>
          <a:stretch>
            <a:fillRect/>
          </a:stretch>
        </p:blipFill>
        <p:spPr>
          <a:xfrm>
            <a:off x="4688476" y="4546879"/>
            <a:ext cx="3980696" cy="3584455"/>
          </a:xfrm>
          <a:prstGeom prst="rect">
            <a:avLst/>
          </a:prstGeom>
        </p:spPr>
      </p:pic>
      <p:pic>
        <p:nvPicPr>
          <p:cNvPr id="19" name="Immagine 18" descr="Immagine che contiene testo, linea, diagramma, Diagramma&#10;&#10;Il contenuto generato dall'IA potrebbe non essere corretto.">
            <a:extLst>
              <a:ext uri="{FF2B5EF4-FFF2-40B4-BE49-F238E27FC236}">
                <a16:creationId xmlns:a16="http://schemas.microsoft.com/office/drawing/2014/main" id="{9C1FA8D9-EBF8-3B04-6190-8FCE553C681D}"/>
              </a:ext>
            </a:extLst>
          </p:cNvPr>
          <p:cNvPicPr>
            <a:picLocks noChangeAspect="1"/>
          </p:cNvPicPr>
          <p:nvPr/>
        </p:nvPicPr>
        <p:blipFill>
          <a:blip r:embed="rId6"/>
          <a:stretch>
            <a:fillRect/>
          </a:stretch>
        </p:blipFill>
        <p:spPr>
          <a:xfrm>
            <a:off x="8887516" y="1197167"/>
            <a:ext cx="5641584" cy="4835643"/>
          </a:xfrm>
          <a:prstGeom prst="rect">
            <a:avLst/>
          </a:prstGeom>
        </p:spPr>
      </p:pic>
      <p:sp>
        <p:nvSpPr>
          <p:cNvPr id="2" name="Text 4">
            <a:extLst>
              <a:ext uri="{FF2B5EF4-FFF2-40B4-BE49-F238E27FC236}">
                <a16:creationId xmlns:a16="http://schemas.microsoft.com/office/drawing/2014/main" id="{57C50DAD-7DB9-F65E-F7A6-17B33D40796B}"/>
              </a:ext>
            </a:extLst>
          </p:cNvPr>
          <p:cNvSpPr/>
          <p:nvPr/>
        </p:nvSpPr>
        <p:spPr>
          <a:xfrm>
            <a:off x="2058113" y="4507765"/>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cs typeface="Sora Light" pitchFamily="34" charset="-120"/>
              </a:rPr>
              <a:t> F1-score : 0.761 </a:t>
            </a:r>
            <a:endParaRPr lang="en-US" sz="1700" dirty="0"/>
          </a:p>
        </p:txBody>
      </p:sp>
      <p:pic>
        <p:nvPicPr>
          <p:cNvPr id="14" name="Image 1" descr="preencoded.png">
            <a:extLst>
              <a:ext uri="{FF2B5EF4-FFF2-40B4-BE49-F238E27FC236}">
                <a16:creationId xmlns:a16="http://schemas.microsoft.com/office/drawing/2014/main" id="{6C899139-820C-7F6C-A123-AA396B864D22}"/>
              </a:ext>
            </a:extLst>
          </p:cNvPr>
          <p:cNvPicPr>
            <a:picLocks noChangeAspect="1"/>
          </p:cNvPicPr>
          <p:nvPr/>
        </p:nvPicPr>
        <p:blipFill>
          <a:blip r:embed="rId3"/>
          <a:stretch>
            <a:fillRect/>
          </a:stretch>
        </p:blipFill>
        <p:spPr>
          <a:xfrm>
            <a:off x="748329" y="5071418"/>
            <a:ext cx="1124620" cy="2304000"/>
          </a:xfrm>
          <a:prstGeom prst="rect">
            <a:avLst/>
          </a:prstGeom>
        </p:spPr>
      </p:pic>
      <p:sp>
        <p:nvSpPr>
          <p:cNvPr id="16" name="Text 1">
            <a:extLst>
              <a:ext uri="{FF2B5EF4-FFF2-40B4-BE49-F238E27FC236}">
                <a16:creationId xmlns:a16="http://schemas.microsoft.com/office/drawing/2014/main" id="{A02CB712-BC37-4239-A650-C6914DA8D34C}"/>
              </a:ext>
            </a:extLst>
          </p:cNvPr>
          <p:cNvSpPr/>
          <p:nvPr/>
        </p:nvSpPr>
        <p:spPr>
          <a:xfrm>
            <a:off x="2058113" y="5154941"/>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Random Forest</a:t>
            </a:r>
            <a:endParaRPr lang="en-US" sz="2200" dirty="0"/>
          </a:p>
        </p:txBody>
      </p:sp>
      <p:sp>
        <p:nvSpPr>
          <p:cNvPr id="18" name="Text 2">
            <a:extLst>
              <a:ext uri="{FF2B5EF4-FFF2-40B4-BE49-F238E27FC236}">
                <a16:creationId xmlns:a16="http://schemas.microsoft.com/office/drawing/2014/main" id="{C0798B52-3B90-0571-5F57-46515DDAE244}"/>
              </a:ext>
            </a:extLst>
          </p:cNvPr>
          <p:cNvSpPr/>
          <p:nvPr/>
        </p:nvSpPr>
        <p:spPr>
          <a:xfrm>
            <a:off x="2058114" y="5549318"/>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Accuracy: 0.787</a:t>
            </a:r>
            <a:endParaRPr lang="en-US" sz="1700" dirty="0"/>
          </a:p>
        </p:txBody>
      </p:sp>
      <p:sp>
        <p:nvSpPr>
          <p:cNvPr id="20" name="Text 3">
            <a:extLst>
              <a:ext uri="{FF2B5EF4-FFF2-40B4-BE49-F238E27FC236}">
                <a16:creationId xmlns:a16="http://schemas.microsoft.com/office/drawing/2014/main" id="{903C779B-E12A-B108-FAB6-6C55E38A16E4}"/>
              </a:ext>
            </a:extLst>
          </p:cNvPr>
          <p:cNvSpPr/>
          <p:nvPr/>
        </p:nvSpPr>
        <p:spPr>
          <a:xfrm>
            <a:off x="2058110" y="5951829"/>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Precision: 0.750</a:t>
            </a:r>
            <a:endParaRPr lang="en-US" sz="1700" dirty="0"/>
          </a:p>
        </p:txBody>
      </p:sp>
      <p:sp>
        <p:nvSpPr>
          <p:cNvPr id="21" name="Text 3">
            <a:extLst>
              <a:ext uri="{FF2B5EF4-FFF2-40B4-BE49-F238E27FC236}">
                <a16:creationId xmlns:a16="http://schemas.microsoft.com/office/drawing/2014/main" id="{48FE1B35-A713-C3FE-3CAE-FCE31DC2BFE7}"/>
              </a:ext>
            </a:extLst>
          </p:cNvPr>
          <p:cNvSpPr/>
          <p:nvPr/>
        </p:nvSpPr>
        <p:spPr>
          <a:xfrm>
            <a:off x="2058111" y="6354340"/>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Recall:0.909</a:t>
            </a:r>
            <a:endParaRPr lang="en-US" sz="1700" dirty="0"/>
          </a:p>
        </p:txBody>
      </p:sp>
      <p:sp>
        <p:nvSpPr>
          <p:cNvPr id="22" name="Text 4">
            <a:extLst>
              <a:ext uri="{FF2B5EF4-FFF2-40B4-BE49-F238E27FC236}">
                <a16:creationId xmlns:a16="http://schemas.microsoft.com/office/drawing/2014/main" id="{69633D10-A9FF-0819-F511-82D5AD10C507}"/>
              </a:ext>
            </a:extLst>
          </p:cNvPr>
          <p:cNvSpPr/>
          <p:nvPr/>
        </p:nvSpPr>
        <p:spPr>
          <a:xfrm>
            <a:off x="1965186" y="6756851"/>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cs typeface="Sora Light" pitchFamily="34" charset="-120"/>
              </a:rPr>
              <a:t> F1-score : 0.822 </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888087"/>
            <a:ext cx="6274832"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Explainability e SHAP</a:t>
            </a:r>
            <a:endParaRPr lang="en-US" sz="4450" dirty="0"/>
          </a:p>
        </p:txBody>
      </p:sp>
      <p:sp>
        <p:nvSpPr>
          <p:cNvPr id="4" name="Text 1"/>
          <p:cNvSpPr/>
          <p:nvPr/>
        </p:nvSpPr>
        <p:spPr>
          <a:xfrm>
            <a:off x="758309" y="1676518"/>
            <a:ext cx="3112889" cy="356235"/>
          </a:xfrm>
          <a:prstGeom prst="rect">
            <a:avLst/>
          </a:prstGeom>
          <a:noFill/>
          <a:ln/>
        </p:spPr>
        <p:txBody>
          <a:bodyPr wrap="none" lIns="0" tIns="0" rIns="0" bIns="0" rtlCol="0" anchor="t"/>
          <a:lstStyle/>
          <a:p>
            <a:pPr marL="0" indent="0" algn="l">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Perché è Importante?</a:t>
            </a:r>
            <a:endParaRPr lang="en-US" sz="2200" dirty="0"/>
          </a:p>
        </p:txBody>
      </p:sp>
      <p:sp>
        <p:nvSpPr>
          <p:cNvPr id="5" name="Text 2"/>
          <p:cNvSpPr/>
          <p:nvPr/>
        </p:nvSpPr>
        <p:spPr>
          <a:xfrm>
            <a:off x="758309" y="2221956"/>
            <a:ext cx="7656790"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In ambito medico è essenziale giustificare le decisioni del </a:t>
            </a:r>
          </a:p>
          <a:p>
            <a:pPr marL="0" indent="0" algn="l">
              <a:lnSpc>
                <a:spcPts val="2700"/>
              </a:lnSpc>
              <a:buNone/>
            </a:pPr>
            <a:r>
              <a:rPr lang="en-US" sz="1700" dirty="0" err="1">
                <a:solidFill>
                  <a:srgbClr val="3B3535"/>
                </a:solidFill>
                <a:latin typeface="Sora Light" pitchFamily="34" charset="0"/>
                <a:ea typeface="Sora Light" pitchFamily="34" charset="-122"/>
                <a:cs typeface="Sora Light" pitchFamily="34" charset="-120"/>
              </a:rPr>
              <a:t>Modello</a:t>
            </a:r>
            <a:r>
              <a:rPr lang="en-US" sz="1700" dirty="0">
                <a:solidFill>
                  <a:srgbClr val="3B3535"/>
                </a:solidFill>
                <a:latin typeface="Sora Light" pitchFamily="34" charset="0"/>
                <a:ea typeface="Sora Light" pitchFamily="34" charset="-122"/>
                <a:cs typeface="Sora Light" pitchFamily="34" charset="-120"/>
              </a:rPr>
              <a:t> in modo chiaro e trasparente.</a:t>
            </a:r>
            <a:endParaRPr lang="en-US" sz="1700" dirty="0"/>
          </a:p>
        </p:txBody>
      </p:sp>
      <p:sp>
        <p:nvSpPr>
          <p:cNvPr id="6" name="Text 3"/>
          <p:cNvSpPr/>
          <p:nvPr/>
        </p:nvSpPr>
        <p:spPr>
          <a:xfrm>
            <a:off x="758309" y="3180302"/>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1F1E1E"/>
                </a:solidFill>
                <a:latin typeface="Alexandria Semi Bold" pitchFamily="34" charset="0"/>
                <a:ea typeface="Alexandria Semi Bold" pitchFamily="34" charset="-122"/>
                <a:cs typeface="Alexandria Semi Bold" pitchFamily="34" charset="-120"/>
              </a:rPr>
              <a:t>Metodi Utilizzati</a:t>
            </a:r>
            <a:endParaRPr lang="en-US" sz="2200" dirty="0"/>
          </a:p>
        </p:txBody>
      </p:sp>
      <p:sp>
        <p:nvSpPr>
          <p:cNvPr id="16" name="Shape 3">
            <a:extLst>
              <a:ext uri="{FF2B5EF4-FFF2-40B4-BE49-F238E27FC236}">
                <a16:creationId xmlns:a16="http://schemas.microsoft.com/office/drawing/2014/main" id="{8B28BA6D-261D-8071-BEA5-6F7B735FE85E}"/>
              </a:ext>
            </a:extLst>
          </p:cNvPr>
          <p:cNvSpPr/>
          <p:nvPr/>
        </p:nvSpPr>
        <p:spPr>
          <a:xfrm>
            <a:off x="758309" y="3748326"/>
            <a:ext cx="6448544" cy="2579010"/>
          </a:xfrm>
          <a:prstGeom prst="roundRect">
            <a:avLst>
              <a:gd name="adj" fmla="val 8742"/>
            </a:avLst>
          </a:prstGeom>
          <a:solidFill>
            <a:srgbClr val="FFFAFA"/>
          </a:solidFill>
          <a:ln w="30480">
            <a:solidFill>
              <a:srgbClr val="BBC2DC"/>
            </a:solidFill>
            <a:prstDash val="solid"/>
          </a:ln>
        </p:spPr>
        <p:txBody>
          <a:bodyPr/>
          <a:lstStyle/>
          <a:p>
            <a:endParaRPr lang="it-IT" dirty="0"/>
          </a:p>
        </p:txBody>
      </p:sp>
      <p:sp>
        <p:nvSpPr>
          <p:cNvPr id="17" name="Shape 4">
            <a:extLst>
              <a:ext uri="{FF2B5EF4-FFF2-40B4-BE49-F238E27FC236}">
                <a16:creationId xmlns:a16="http://schemas.microsoft.com/office/drawing/2014/main" id="{8FAA8478-6B96-9107-1B0E-FCD0B462488B}"/>
              </a:ext>
            </a:extLst>
          </p:cNvPr>
          <p:cNvSpPr/>
          <p:nvPr/>
        </p:nvSpPr>
        <p:spPr>
          <a:xfrm>
            <a:off x="727829" y="3748326"/>
            <a:ext cx="121920" cy="2484000"/>
          </a:xfrm>
          <a:prstGeom prst="roundRect">
            <a:avLst>
              <a:gd name="adj" fmla="val 74638"/>
            </a:avLst>
          </a:prstGeom>
          <a:solidFill>
            <a:srgbClr val="1A2D7A"/>
          </a:solidFill>
          <a:ln/>
        </p:spPr>
        <p:txBody>
          <a:bodyPr/>
          <a:lstStyle/>
          <a:p>
            <a:endParaRPr lang="it-IT" dirty="0"/>
          </a:p>
        </p:txBody>
      </p:sp>
      <p:sp>
        <p:nvSpPr>
          <p:cNvPr id="18" name="Text 5">
            <a:extLst>
              <a:ext uri="{FF2B5EF4-FFF2-40B4-BE49-F238E27FC236}">
                <a16:creationId xmlns:a16="http://schemas.microsoft.com/office/drawing/2014/main" id="{4453FFFA-D622-5F0E-4EF5-4AA6F7513BED}"/>
              </a:ext>
            </a:extLst>
          </p:cNvPr>
          <p:cNvSpPr/>
          <p:nvPr/>
        </p:nvSpPr>
        <p:spPr>
          <a:xfrm>
            <a:off x="1096804" y="3995380"/>
            <a:ext cx="2850713" cy="356235"/>
          </a:xfrm>
          <a:prstGeom prst="rect">
            <a:avLst/>
          </a:prstGeom>
          <a:noFill/>
          <a:ln/>
        </p:spPr>
        <p:txBody>
          <a:bodyPr wrap="none" lIns="0" tIns="0" rIns="0" bIns="0" rtlCol="0" anchor="t"/>
          <a:lstStyle/>
          <a:p>
            <a:pPr marL="0" indent="0" algn="l">
              <a:lnSpc>
                <a:spcPts val="2800"/>
              </a:lnSpc>
              <a:buNone/>
            </a:pPr>
            <a:r>
              <a:rPr lang="en-US" sz="2200" dirty="0" err="1">
                <a:solidFill>
                  <a:srgbClr val="3B3535"/>
                </a:solidFill>
                <a:latin typeface="Alexandria Semi Bold" pitchFamily="34" charset="0"/>
                <a:ea typeface="Alexandria Semi Bold" pitchFamily="34" charset="-122"/>
                <a:cs typeface="Alexandria Semi Bold" pitchFamily="34" charset="-120"/>
              </a:rPr>
              <a:t>Shap</a:t>
            </a:r>
            <a:endParaRPr lang="en-US" sz="2200" dirty="0"/>
          </a:p>
        </p:txBody>
      </p:sp>
      <p:sp>
        <p:nvSpPr>
          <p:cNvPr id="19" name="Text 6">
            <a:extLst>
              <a:ext uri="{FF2B5EF4-FFF2-40B4-BE49-F238E27FC236}">
                <a16:creationId xmlns:a16="http://schemas.microsoft.com/office/drawing/2014/main" id="{C6F52878-3FEC-042E-F1D6-AF5952C6A8A4}"/>
              </a:ext>
            </a:extLst>
          </p:cNvPr>
          <p:cNvSpPr/>
          <p:nvPr/>
        </p:nvSpPr>
        <p:spPr>
          <a:xfrm>
            <a:off x="1096804" y="4526643"/>
            <a:ext cx="5862995" cy="2330253"/>
          </a:xfrm>
          <a:prstGeom prst="rect">
            <a:avLst/>
          </a:prstGeom>
          <a:noFill/>
          <a:ln/>
        </p:spPr>
        <p:txBody>
          <a:bodyPr wrap="square" lIns="0" tIns="0" rIns="0" bIns="0" rtlCol="0" anchor="t"/>
          <a:lstStyle/>
          <a:p>
            <a:pPr marL="0" indent="0" algn="l">
              <a:lnSpc>
                <a:spcPts val="2700"/>
              </a:lnSpc>
              <a:buNone/>
            </a:pPr>
            <a:r>
              <a:rPr lang="it-IT" sz="1700" dirty="0">
                <a:solidFill>
                  <a:srgbClr val="3B3535"/>
                </a:solidFill>
                <a:latin typeface="Sora Light" pitchFamily="34" charset="0"/>
                <a:ea typeface="Sora Light" pitchFamily="34" charset="-122"/>
                <a:cs typeface="Sora Light" pitchFamily="34" charset="-120"/>
              </a:rPr>
              <a:t>La sua logica consiste nel calcolare l’impatto di ciascuna feature sul risultato finale e sommare questi contributi per ottenere la predizione complessiva. </a:t>
            </a:r>
            <a:endParaRPr lang="en-US" sz="1700" dirty="0"/>
          </a:p>
        </p:txBody>
      </p:sp>
      <p:sp>
        <p:nvSpPr>
          <p:cNvPr id="20" name="Shape 7">
            <a:extLst>
              <a:ext uri="{FF2B5EF4-FFF2-40B4-BE49-F238E27FC236}">
                <a16:creationId xmlns:a16="http://schemas.microsoft.com/office/drawing/2014/main" id="{0EEF9E2A-1156-CF04-2D8C-8594232C759C}"/>
              </a:ext>
            </a:extLst>
          </p:cNvPr>
          <p:cNvSpPr/>
          <p:nvPr/>
        </p:nvSpPr>
        <p:spPr>
          <a:xfrm>
            <a:off x="7423428" y="3748325"/>
            <a:ext cx="6448663" cy="2579011"/>
          </a:xfrm>
          <a:prstGeom prst="roundRect">
            <a:avLst>
              <a:gd name="adj" fmla="val 8742"/>
            </a:avLst>
          </a:prstGeom>
          <a:solidFill>
            <a:srgbClr val="FFFAFA"/>
          </a:solidFill>
          <a:ln w="30480">
            <a:solidFill>
              <a:srgbClr val="BBC2DC"/>
            </a:solidFill>
            <a:prstDash val="solid"/>
          </a:ln>
        </p:spPr>
        <p:txBody>
          <a:bodyPr/>
          <a:lstStyle/>
          <a:p>
            <a:endParaRPr lang="it-IT" dirty="0"/>
          </a:p>
        </p:txBody>
      </p:sp>
      <p:sp>
        <p:nvSpPr>
          <p:cNvPr id="21" name="Shape 8">
            <a:extLst>
              <a:ext uri="{FF2B5EF4-FFF2-40B4-BE49-F238E27FC236}">
                <a16:creationId xmlns:a16="http://schemas.microsoft.com/office/drawing/2014/main" id="{170F5588-7A03-9AA6-3698-400A4691613F}"/>
              </a:ext>
            </a:extLst>
          </p:cNvPr>
          <p:cNvSpPr/>
          <p:nvPr/>
        </p:nvSpPr>
        <p:spPr>
          <a:xfrm>
            <a:off x="7392948" y="3748326"/>
            <a:ext cx="121920" cy="2484000"/>
          </a:xfrm>
          <a:prstGeom prst="roundRect">
            <a:avLst>
              <a:gd name="adj" fmla="val 74638"/>
            </a:avLst>
          </a:prstGeom>
          <a:solidFill>
            <a:srgbClr val="1A2D7A"/>
          </a:solidFill>
          <a:ln/>
        </p:spPr>
        <p:txBody>
          <a:bodyPr/>
          <a:lstStyle/>
          <a:p>
            <a:endParaRPr lang="it-IT" dirty="0"/>
          </a:p>
        </p:txBody>
      </p:sp>
      <p:sp>
        <p:nvSpPr>
          <p:cNvPr id="22" name="Text 9">
            <a:extLst>
              <a:ext uri="{FF2B5EF4-FFF2-40B4-BE49-F238E27FC236}">
                <a16:creationId xmlns:a16="http://schemas.microsoft.com/office/drawing/2014/main" id="{E5376230-7240-43DF-6C09-BCF99E30A8B4}"/>
              </a:ext>
            </a:extLst>
          </p:cNvPr>
          <p:cNvSpPr/>
          <p:nvPr/>
        </p:nvSpPr>
        <p:spPr>
          <a:xfrm>
            <a:off x="7761923" y="3995380"/>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Feature Importance</a:t>
            </a:r>
            <a:endParaRPr lang="en-US" sz="2200" dirty="0"/>
          </a:p>
        </p:txBody>
      </p:sp>
      <p:sp>
        <p:nvSpPr>
          <p:cNvPr id="23" name="Text 10">
            <a:extLst>
              <a:ext uri="{FF2B5EF4-FFF2-40B4-BE49-F238E27FC236}">
                <a16:creationId xmlns:a16="http://schemas.microsoft.com/office/drawing/2014/main" id="{1126CE53-6093-DF5F-ACF3-A621B834BF31}"/>
              </a:ext>
            </a:extLst>
          </p:cNvPr>
          <p:cNvSpPr/>
          <p:nvPr/>
        </p:nvSpPr>
        <p:spPr>
          <a:xfrm>
            <a:off x="7761923" y="4481512"/>
            <a:ext cx="6262302" cy="1845825"/>
          </a:xfrm>
          <a:prstGeom prst="rect">
            <a:avLst/>
          </a:prstGeom>
          <a:noFill/>
          <a:ln/>
        </p:spPr>
        <p:txBody>
          <a:bodyPr wrap="square" lIns="0" tIns="0" rIns="0" bIns="0" rtlCol="0" anchor="t"/>
          <a:lstStyle/>
          <a:p>
            <a:pPr marL="0" indent="0" algn="l">
              <a:lnSpc>
                <a:spcPts val="2700"/>
              </a:lnSpc>
              <a:buNone/>
            </a:pPr>
            <a:r>
              <a:rPr lang="it-IT" sz="1700" dirty="0">
                <a:solidFill>
                  <a:srgbClr val="3B3535"/>
                </a:solidFill>
                <a:latin typeface="Sora Light" pitchFamily="34" charset="0"/>
                <a:ea typeface="Sora Light" pitchFamily="34" charset="-122"/>
                <a:cs typeface="Sora Light" pitchFamily="34" charset="-120"/>
              </a:rPr>
              <a:t>La feature </a:t>
            </a:r>
            <a:r>
              <a:rPr lang="it-IT" sz="1700" dirty="0" err="1">
                <a:solidFill>
                  <a:srgbClr val="3B3535"/>
                </a:solidFill>
                <a:latin typeface="Sora Light" pitchFamily="34" charset="0"/>
                <a:ea typeface="Sora Light" pitchFamily="34" charset="-122"/>
                <a:cs typeface="Sora Light" pitchFamily="34" charset="-120"/>
              </a:rPr>
              <a:t>importance</a:t>
            </a:r>
            <a:r>
              <a:rPr lang="it-IT" sz="1700" dirty="0">
                <a:solidFill>
                  <a:srgbClr val="3B3535"/>
                </a:solidFill>
                <a:latin typeface="Sora Light" pitchFamily="34" charset="0"/>
                <a:ea typeface="Sora Light" pitchFamily="34" charset="-122"/>
                <a:cs typeface="Sora Light" pitchFamily="34" charset="-120"/>
              </a:rPr>
              <a:t> è una misura che indica quanto ciascuna variabile ha influenzato il risultato di una predizione. Un punteggio più elevato significa che la feature ha avuto un ruolo più rilevante nel determinare l’output rispetto a una feature con punteggio inferiore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276B2-B195-54EB-538E-0C26F9ECF8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719C1B7-5A48-3340-0480-A87670896393}"/>
              </a:ext>
            </a:extLst>
          </p:cNvPr>
          <p:cNvSpPr/>
          <p:nvPr/>
        </p:nvSpPr>
        <p:spPr>
          <a:xfrm>
            <a:off x="465451" y="175379"/>
            <a:ext cx="8611641"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Explainability e SHAP </a:t>
            </a:r>
            <a:r>
              <a:rPr lang="en-US" sz="4450" dirty="0" err="1">
                <a:solidFill>
                  <a:srgbClr val="1F1E1E"/>
                </a:solidFill>
                <a:latin typeface="Alexandria Semi Bold" pitchFamily="34" charset="0"/>
                <a:ea typeface="Alexandria Semi Bold" pitchFamily="34" charset="-122"/>
                <a:cs typeface="Alexandria Semi Bold" pitchFamily="34" charset="-120"/>
              </a:rPr>
              <a:t>Risultati</a:t>
            </a:r>
            <a:endParaRPr lang="en-US" sz="4450" dirty="0"/>
          </a:p>
        </p:txBody>
      </p:sp>
      <p:pic>
        <p:nvPicPr>
          <p:cNvPr id="9" name="Immagine 8" descr="Immagine che contiene testo, schermata, diagramma, Carattere&#10;&#10;Il contenuto generato dall'IA potrebbe non essere corretto.">
            <a:extLst>
              <a:ext uri="{FF2B5EF4-FFF2-40B4-BE49-F238E27FC236}">
                <a16:creationId xmlns:a16="http://schemas.microsoft.com/office/drawing/2014/main" id="{05805373-67A4-E116-39D7-AE8C8019AEA1}"/>
              </a:ext>
            </a:extLst>
          </p:cNvPr>
          <p:cNvPicPr>
            <a:picLocks noChangeAspect="1"/>
          </p:cNvPicPr>
          <p:nvPr/>
        </p:nvPicPr>
        <p:blipFill>
          <a:blip r:embed="rId3"/>
          <a:stretch>
            <a:fillRect/>
          </a:stretch>
        </p:blipFill>
        <p:spPr>
          <a:xfrm>
            <a:off x="1123955" y="4297799"/>
            <a:ext cx="5299730" cy="3709811"/>
          </a:xfrm>
          <a:prstGeom prst="rect">
            <a:avLst/>
          </a:prstGeom>
        </p:spPr>
      </p:pic>
      <p:pic>
        <p:nvPicPr>
          <p:cNvPr id="11" name="Immagine 10" descr="Immagine che contiene testo, schermata, diagramma, Carattere&#10;&#10;Il contenuto generato dall'IA potrebbe non essere corretto.">
            <a:extLst>
              <a:ext uri="{FF2B5EF4-FFF2-40B4-BE49-F238E27FC236}">
                <a16:creationId xmlns:a16="http://schemas.microsoft.com/office/drawing/2014/main" id="{D49F016D-AFE5-5595-C5FA-316C3B11290D}"/>
              </a:ext>
            </a:extLst>
          </p:cNvPr>
          <p:cNvPicPr>
            <a:picLocks noChangeAspect="1"/>
          </p:cNvPicPr>
          <p:nvPr/>
        </p:nvPicPr>
        <p:blipFill>
          <a:blip r:embed="rId4"/>
          <a:stretch>
            <a:fillRect/>
          </a:stretch>
        </p:blipFill>
        <p:spPr>
          <a:xfrm>
            <a:off x="1338312" y="888087"/>
            <a:ext cx="4871017" cy="3409712"/>
          </a:xfrm>
          <a:prstGeom prst="rect">
            <a:avLst/>
          </a:prstGeom>
        </p:spPr>
      </p:pic>
      <p:pic>
        <p:nvPicPr>
          <p:cNvPr id="13" name="Immagine 12" descr="Immagine che contiene testo, schermata, diagramma, numero&#10;&#10;Il contenuto generato dall'IA potrebbe non essere corretto.">
            <a:extLst>
              <a:ext uri="{FF2B5EF4-FFF2-40B4-BE49-F238E27FC236}">
                <a16:creationId xmlns:a16="http://schemas.microsoft.com/office/drawing/2014/main" id="{993D838B-8CDA-C12C-6D1C-1371054D9027}"/>
              </a:ext>
            </a:extLst>
          </p:cNvPr>
          <p:cNvPicPr>
            <a:picLocks noChangeAspect="1"/>
          </p:cNvPicPr>
          <p:nvPr/>
        </p:nvPicPr>
        <p:blipFill>
          <a:blip r:embed="rId5"/>
          <a:stretch>
            <a:fillRect/>
          </a:stretch>
        </p:blipFill>
        <p:spPr>
          <a:xfrm>
            <a:off x="7372267" y="4465999"/>
            <a:ext cx="4868957" cy="3651717"/>
          </a:xfrm>
          <a:prstGeom prst="rect">
            <a:avLst/>
          </a:prstGeom>
        </p:spPr>
      </p:pic>
      <p:pic>
        <p:nvPicPr>
          <p:cNvPr id="15" name="Immagine 14" descr="Immagine che contiene testo, schermata, diagramma, numero&#10;&#10;Il contenuto generato dall'IA potrebbe non essere corretto.">
            <a:extLst>
              <a:ext uri="{FF2B5EF4-FFF2-40B4-BE49-F238E27FC236}">
                <a16:creationId xmlns:a16="http://schemas.microsoft.com/office/drawing/2014/main" id="{20A01EAF-C209-E6E5-ADC1-61D06E1038C0}"/>
              </a:ext>
            </a:extLst>
          </p:cNvPr>
          <p:cNvPicPr>
            <a:picLocks noChangeAspect="1"/>
          </p:cNvPicPr>
          <p:nvPr/>
        </p:nvPicPr>
        <p:blipFill>
          <a:blip r:embed="rId6"/>
          <a:stretch>
            <a:fillRect/>
          </a:stretch>
        </p:blipFill>
        <p:spPr>
          <a:xfrm>
            <a:off x="7372267" y="888087"/>
            <a:ext cx="5014549" cy="3760911"/>
          </a:xfrm>
          <a:prstGeom prst="rect">
            <a:avLst/>
          </a:prstGeom>
        </p:spPr>
      </p:pic>
    </p:spTree>
    <p:extLst>
      <p:ext uri="{BB962C8B-B14F-4D97-AF65-F5344CB8AC3E}">
        <p14:creationId xmlns:p14="http://schemas.microsoft.com/office/powerpoint/2010/main" val="1699133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1166574"/>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Alexandria Semi Bold" pitchFamily="34" charset="0"/>
                <a:ea typeface="Alexandria Semi Bold" pitchFamily="34" charset="-122"/>
                <a:cs typeface="Alexandria Semi Bold" pitchFamily="34" charset="-120"/>
              </a:rPr>
              <a:t>Conclusioni</a:t>
            </a:r>
            <a:endParaRPr lang="en-US" sz="4450" dirty="0"/>
          </a:p>
        </p:txBody>
      </p:sp>
      <p:sp>
        <p:nvSpPr>
          <p:cNvPr id="4" name="Shape 1"/>
          <p:cNvSpPr/>
          <p:nvPr/>
        </p:nvSpPr>
        <p:spPr>
          <a:xfrm>
            <a:off x="6244709" y="2204204"/>
            <a:ext cx="3705344" cy="2494478"/>
          </a:xfrm>
          <a:prstGeom prst="roundRect">
            <a:avLst>
              <a:gd name="adj" fmla="val 3648"/>
            </a:avLst>
          </a:prstGeom>
          <a:solidFill>
            <a:srgbClr val="D5DCF6"/>
          </a:solidFill>
          <a:ln w="7620">
            <a:solidFill>
              <a:srgbClr val="1A2D7A"/>
            </a:solidFill>
            <a:prstDash val="solid"/>
          </a:ln>
        </p:spPr>
        <p:txBody>
          <a:bodyPr/>
          <a:lstStyle/>
          <a:p>
            <a:endParaRPr lang="it-IT"/>
          </a:p>
        </p:txBody>
      </p:sp>
      <p:sp>
        <p:nvSpPr>
          <p:cNvPr id="5" name="Shape 2"/>
          <p:cNvSpPr/>
          <p:nvPr/>
        </p:nvSpPr>
        <p:spPr>
          <a:xfrm>
            <a:off x="6468904" y="2428399"/>
            <a:ext cx="649962" cy="649962"/>
          </a:xfrm>
          <a:prstGeom prst="roundRect">
            <a:avLst>
              <a:gd name="adj" fmla="val 14067108"/>
            </a:avLst>
          </a:prstGeom>
          <a:solidFill>
            <a:srgbClr val="1A2D7A"/>
          </a:solidFill>
          <a:ln/>
        </p:spPr>
        <p:txBody>
          <a:bodyPr/>
          <a:lstStyle/>
          <a:p>
            <a:endParaRPr lang="it-IT"/>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47617" y="2607112"/>
            <a:ext cx="292418" cy="292418"/>
          </a:xfrm>
          <a:prstGeom prst="rect">
            <a:avLst/>
          </a:prstGeom>
        </p:spPr>
      </p:pic>
      <p:sp>
        <p:nvSpPr>
          <p:cNvPr id="7" name="Text 3"/>
          <p:cNvSpPr/>
          <p:nvPr/>
        </p:nvSpPr>
        <p:spPr>
          <a:xfrm>
            <a:off x="6468904" y="3294936"/>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Modello Vincente</a:t>
            </a:r>
            <a:endParaRPr lang="en-US" sz="2200" dirty="0"/>
          </a:p>
        </p:txBody>
      </p:sp>
      <p:sp>
        <p:nvSpPr>
          <p:cNvPr id="8" name="Text 4"/>
          <p:cNvSpPr/>
          <p:nvPr/>
        </p:nvSpPr>
        <p:spPr>
          <a:xfrm>
            <a:off x="6468904" y="3781068"/>
            <a:ext cx="3256955"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Random Forest per accuracy e recall superiori</a:t>
            </a:r>
            <a:endParaRPr lang="en-US" sz="1700" dirty="0"/>
          </a:p>
        </p:txBody>
      </p:sp>
      <p:sp>
        <p:nvSpPr>
          <p:cNvPr id="9" name="Shape 5"/>
          <p:cNvSpPr/>
          <p:nvPr/>
        </p:nvSpPr>
        <p:spPr>
          <a:xfrm>
            <a:off x="10166628" y="2204204"/>
            <a:ext cx="3705463" cy="2494478"/>
          </a:xfrm>
          <a:prstGeom prst="roundRect">
            <a:avLst>
              <a:gd name="adj" fmla="val 3648"/>
            </a:avLst>
          </a:prstGeom>
          <a:solidFill>
            <a:srgbClr val="D5DCF6"/>
          </a:solidFill>
          <a:ln w="7620">
            <a:solidFill>
              <a:srgbClr val="1A2D7A"/>
            </a:solidFill>
            <a:prstDash val="solid"/>
          </a:ln>
        </p:spPr>
        <p:txBody>
          <a:bodyPr/>
          <a:lstStyle/>
          <a:p>
            <a:endParaRPr lang="it-IT"/>
          </a:p>
        </p:txBody>
      </p:sp>
      <p:sp>
        <p:nvSpPr>
          <p:cNvPr id="10" name="Shape 6"/>
          <p:cNvSpPr/>
          <p:nvPr/>
        </p:nvSpPr>
        <p:spPr>
          <a:xfrm>
            <a:off x="10390823" y="2428399"/>
            <a:ext cx="649962" cy="649962"/>
          </a:xfrm>
          <a:prstGeom prst="roundRect">
            <a:avLst>
              <a:gd name="adj" fmla="val 14067108"/>
            </a:avLst>
          </a:prstGeom>
          <a:solidFill>
            <a:srgbClr val="1A2D7A"/>
          </a:solidFill>
          <a:ln/>
        </p:spPr>
        <p:txBody>
          <a:bodyPr/>
          <a:lstStyle/>
          <a:p>
            <a:endParaRPr lang="it-IT"/>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69535" y="2607112"/>
            <a:ext cx="292418" cy="292418"/>
          </a:xfrm>
          <a:prstGeom prst="rect">
            <a:avLst/>
          </a:prstGeom>
        </p:spPr>
      </p:pic>
      <p:sp>
        <p:nvSpPr>
          <p:cNvPr id="12" name="Text 7"/>
          <p:cNvSpPr/>
          <p:nvPr/>
        </p:nvSpPr>
        <p:spPr>
          <a:xfrm>
            <a:off x="10390823" y="3294936"/>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Feature Chiave</a:t>
            </a:r>
            <a:endParaRPr lang="en-US" sz="2200" dirty="0"/>
          </a:p>
        </p:txBody>
      </p:sp>
      <p:sp>
        <p:nvSpPr>
          <p:cNvPr id="13" name="Text 8"/>
          <p:cNvSpPr/>
          <p:nvPr/>
        </p:nvSpPr>
        <p:spPr>
          <a:xfrm>
            <a:off x="10390823" y="3781068"/>
            <a:ext cx="3257074"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"cp" (tipo dolore toracico) contributo principale</a:t>
            </a:r>
            <a:endParaRPr lang="en-US" sz="1700" dirty="0"/>
          </a:p>
        </p:txBody>
      </p:sp>
      <p:sp>
        <p:nvSpPr>
          <p:cNvPr id="14" name="Shape 9"/>
          <p:cNvSpPr/>
          <p:nvPr/>
        </p:nvSpPr>
        <p:spPr>
          <a:xfrm>
            <a:off x="6244709" y="4915257"/>
            <a:ext cx="7627382" cy="2147768"/>
          </a:xfrm>
          <a:prstGeom prst="roundRect">
            <a:avLst>
              <a:gd name="adj" fmla="val 4237"/>
            </a:avLst>
          </a:prstGeom>
          <a:solidFill>
            <a:srgbClr val="D5DCF6"/>
          </a:solidFill>
          <a:ln w="7620">
            <a:solidFill>
              <a:srgbClr val="1A2D7A"/>
            </a:solidFill>
            <a:prstDash val="solid"/>
          </a:ln>
        </p:spPr>
        <p:txBody>
          <a:bodyPr/>
          <a:lstStyle/>
          <a:p>
            <a:endParaRPr lang="it-IT"/>
          </a:p>
        </p:txBody>
      </p:sp>
      <p:sp>
        <p:nvSpPr>
          <p:cNvPr id="15" name="Shape 10"/>
          <p:cNvSpPr/>
          <p:nvPr/>
        </p:nvSpPr>
        <p:spPr>
          <a:xfrm>
            <a:off x="6468904" y="5139452"/>
            <a:ext cx="649962" cy="649962"/>
          </a:xfrm>
          <a:prstGeom prst="roundRect">
            <a:avLst>
              <a:gd name="adj" fmla="val 14067108"/>
            </a:avLst>
          </a:prstGeom>
          <a:solidFill>
            <a:srgbClr val="1A2D7A"/>
          </a:solidFill>
          <a:ln/>
        </p:spPr>
        <p:txBody>
          <a:bodyPr/>
          <a:lstStyle/>
          <a:p>
            <a:endParaRPr lang="it-IT"/>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47617" y="5318165"/>
            <a:ext cx="292418" cy="292418"/>
          </a:xfrm>
          <a:prstGeom prst="rect">
            <a:avLst/>
          </a:prstGeom>
        </p:spPr>
      </p:pic>
      <p:sp>
        <p:nvSpPr>
          <p:cNvPr id="17" name="Text 11"/>
          <p:cNvSpPr/>
          <p:nvPr/>
        </p:nvSpPr>
        <p:spPr>
          <a:xfrm>
            <a:off x="6468904" y="6005989"/>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Alexandria Semi Bold" pitchFamily="34" charset="0"/>
                <a:ea typeface="Alexandria Semi Bold" pitchFamily="34" charset="-122"/>
                <a:cs typeface="Alexandria Semi Bold" pitchFamily="34" charset="-120"/>
              </a:rPr>
              <a:t>Trasparenza</a:t>
            </a:r>
            <a:endParaRPr lang="en-US" sz="2200" dirty="0"/>
          </a:p>
        </p:txBody>
      </p:sp>
      <p:sp>
        <p:nvSpPr>
          <p:cNvPr id="18" name="Text 12"/>
          <p:cNvSpPr/>
          <p:nvPr/>
        </p:nvSpPr>
        <p:spPr>
          <a:xfrm>
            <a:off x="6468904" y="6492121"/>
            <a:ext cx="7178993"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Sora Light" pitchFamily="34" charset="0"/>
                <a:ea typeface="Sora Light" pitchFamily="34" charset="-122"/>
                <a:cs typeface="Sora Light" pitchFamily="34" charset="-120"/>
              </a:rPr>
              <a:t>SHAP garantisce interpretabilità clinica</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442</Words>
  <Application>Microsoft Office PowerPoint</Application>
  <PresentationFormat>Personalizzato</PresentationFormat>
  <Paragraphs>89</Paragraphs>
  <Slides>11</Slides>
  <Notes>11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11</vt:i4>
      </vt:variant>
    </vt:vector>
  </HeadingPairs>
  <TitlesOfParts>
    <vt:vector size="19" baseType="lpstr">
      <vt:lpstr>Sora Light</vt:lpstr>
      <vt:lpstr>Alexandria Light</vt:lpstr>
      <vt:lpstr>Sora ExtraBold</vt:lpstr>
      <vt:lpstr>Alexandria ExtraBold</vt:lpstr>
      <vt:lpstr>Arial</vt:lpstr>
      <vt:lpstr>Alexandria Semi Bold</vt:lpstr>
      <vt:lpstr>Sora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Emiliano Di giuseppe</dc:creator>
  <cp:lastModifiedBy>Emiliano Di giuseppe</cp:lastModifiedBy>
  <cp:revision>5</cp:revision>
  <dcterms:created xsi:type="dcterms:W3CDTF">2026-01-05T14:14:42Z</dcterms:created>
  <dcterms:modified xsi:type="dcterms:W3CDTF">2026-02-03T08:52:19Z</dcterms:modified>
</cp:coreProperties>
</file>