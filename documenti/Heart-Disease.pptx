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</p:sldIdLst>
  <p:sldSz cx="14630400" cy="8229600"/>
  <p:notesSz cx="8229600" cy="14630400"/>
  <p:embeddedFontLst>
    <p:embeddedFont>
      <p:font typeface="Alexandria ExtraBold" pitchFamily="2" charset="-78"/>
      <p:bold r:id="rId14"/>
    </p:embeddedFont>
    <p:embeddedFont>
      <p:font typeface="Alexandria Light" pitchFamily="2" charset="-78"/>
      <p:regular r:id="rId15"/>
    </p:embeddedFont>
    <p:embeddedFont>
      <p:font typeface="Alexandria Semi Bold" panose="020B0604020202020204" charset="-78"/>
      <p:regular r:id="rId16"/>
    </p:embeddedFont>
    <p:embeddedFont>
      <p:font typeface="Sora" pitchFamily="2" charset="0"/>
      <p:regular r:id="rId17"/>
      <p:bold r:id="rId18"/>
    </p:embeddedFont>
    <p:embeddedFont>
      <p:font typeface="Sora ExtraBold" pitchFamily="2" charset="0"/>
      <p:bold r:id="rId19"/>
    </p:embeddedFont>
    <p:embeddedFont>
      <p:font typeface="Sora Light" pitchFamily="2" charset="0"/>
      <p:regular r:id="rId20"/>
    </p:embeddedFont>
  </p:embeddedFontLst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90" d="100"/>
          <a:sy n="90" d="100"/>
        </p:scale>
        <p:origin x="-322" y="-3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55101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25AF0-6C27-8C58-EC8E-08E8E8FA3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58FB0C-154E-F49B-BC6A-E6AE9EBF0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23142C-5C51-FE0C-0B30-7017BD88DE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EB5263-2E49-A03D-3FAD-6AF1029A86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7012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7EEF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7EEF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7EEF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7EEF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7EEF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7EEF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7EEF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7EEF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7EEF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7EEF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svg"/><Relationship Id="rId4" Type="http://schemas.openxmlformats.org/officeDocument/2006/relationships/image" Target="../media/image18.png"/><Relationship Id="rId9" Type="http://schemas.openxmlformats.org/officeDocument/2006/relationships/image" Target="../media/image2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137160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44709" y="3127415"/>
            <a:ext cx="5701546" cy="71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dirty="0">
                <a:solidFill>
                  <a:srgbClr val="1F1E1E"/>
                </a:solidFill>
                <a:latin typeface="Alexandria ExtraBold" pitchFamily="2" charset="-78"/>
                <a:ea typeface="Alexandria Semi Bold" pitchFamily="34" charset="-122"/>
                <a:cs typeface="Alexandria ExtraBold" pitchFamily="2" charset="-78"/>
              </a:rPr>
              <a:t>Heart Disease</a:t>
            </a:r>
            <a:endParaRPr lang="en-US" sz="4450" dirty="0">
              <a:latin typeface="Alexandria ExtraBold" pitchFamily="2" charset="-78"/>
              <a:cs typeface="Alexandria ExtraBold" pitchFamily="2" charset="-78"/>
            </a:endParaRPr>
          </a:p>
        </p:txBody>
      </p:sp>
      <p:sp>
        <p:nvSpPr>
          <p:cNvPr id="4" name="Text 1"/>
          <p:cNvSpPr/>
          <p:nvPr/>
        </p:nvSpPr>
        <p:spPr>
          <a:xfrm>
            <a:off x="6244709" y="4165044"/>
            <a:ext cx="7627382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ora" pitchFamily="2" charset="0"/>
                <a:ea typeface="Sora Light" pitchFamily="34" charset="-122"/>
                <a:cs typeface="Sora" pitchFamily="2" charset="0"/>
              </a:rPr>
              <a:t>Predizione</a:t>
            </a: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 del rischio di attacco cardiaco tramite Machine Learning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6244709" y="4755475"/>
            <a:ext cx="7627382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dirty="0"/>
              <a:t>Università degli Studi di Salerno - Corso di Machine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27081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58309" y="3674864"/>
            <a:ext cx="1290757" cy="407075"/>
          </a:xfrm>
          <a:prstGeom prst="roundRect">
            <a:avLst>
              <a:gd name="adj" fmla="val 17883"/>
            </a:avLst>
          </a:prstGeom>
          <a:solidFill>
            <a:srgbClr val="D5DCF6"/>
          </a:solidFill>
          <a:ln/>
        </p:spPr>
        <p:txBody>
          <a:bodyPr/>
          <a:lstStyle/>
          <a:p>
            <a:endParaRPr lang="it-IT" dirty="0"/>
          </a:p>
        </p:txBody>
      </p:sp>
      <p:sp>
        <p:nvSpPr>
          <p:cNvPr id="4" name="Text 1"/>
          <p:cNvSpPr/>
          <p:nvPr/>
        </p:nvSpPr>
        <p:spPr>
          <a:xfrm>
            <a:off x="888206" y="3739753"/>
            <a:ext cx="1030962" cy="277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CAPITOLO 1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758309" y="4168497"/>
            <a:ext cx="8681085" cy="71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dirty="0">
                <a:solidFill>
                  <a:srgbClr val="1F1E1E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Machine Learning in Medicina</a:t>
            </a:r>
            <a:endParaRPr lang="en-US" sz="4450" dirty="0"/>
          </a:p>
        </p:txBody>
      </p:sp>
      <p:sp>
        <p:nvSpPr>
          <p:cNvPr id="6" name="Text 3"/>
          <p:cNvSpPr/>
          <p:nvPr/>
        </p:nvSpPr>
        <p:spPr>
          <a:xfrm>
            <a:off x="758309" y="5422702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dirty="0">
                <a:solidFill>
                  <a:srgbClr val="1F1E1E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Il Ruolo del ML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58309" y="5995511"/>
            <a:ext cx="6292572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Il Machine Learning offre strumenti avanzati per l'analisi di grandi quantità di dati clinici, individuando pattern nascosti e supportando il personale sanitario.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587139" y="5422702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dirty="0">
                <a:solidFill>
                  <a:srgbClr val="1F1E1E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Applicazioni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587139" y="5995511"/>
            <a:ext cx="6292572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Diagnosi precoce delle patologie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587139" y="6417945"/>
            <a:ext cx="6292572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Predizione del rischio clinico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587139" y="6840379"/>
            <a:ext cx="6292572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Monitoraggio dello stato di salute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309" y="1795343"/>
            <a:ext cx="1325047" cy="407075"/>
          </a:xfrm>
          <a:prstGeom prst="roundRect">
            <a:avLst>
              <a:gd name="adj" fmla="val 17883"/>
            </a:avLst>
          </a:prstGeom>
          <a:solidFill>
            <a:srgbClr val="D5DCF6"/>
          </a:solidFill>
          <a:ln/>
        </p:spPr>
        <p:txBody>
          <a:bodyPr/>
          <a:lstStyle/>
          <a:p>
            <a:endParaRPr lang="it-IT" dirty="0"/>
          </a:p>
        </p:txBody>
      </p:sp>
      <p:sp>
        <p:nvSpPr>
          <p:cNvPr id="3" name="Text 1"/>
          <p:cNvSpPr/>
          <p:nvPr/>
        </p:nvSpPr>
        <p:spPr>
          <a:xfrm>
            <a:off x="888206" y="1860233"/>
            <a:ext cx="1065252" cy="277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CAPITOLO 2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758309" y="2288977"/>
            <a:ext cx="5701546" cy="71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dirty="0">
                <a:solidFill>
                  <a:srgbClr val="1F1E1E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Il Dataset</a:t>
            </a:r>
            <a:endParaRPr lang="en-US" sz="4450" dirty="0"/>
          </a:p>
        </p:txBody>
      </p:sp>
      <p:sp>
        <p:nvSpPr>
          <p:cNvPr id="5" name="Text 3"/>
          <p:cNvSpPr/>
          <p:nvPr/>
        </p:nvSpPr>
        <p:spPr>
          <a:xfrm>
            <a:off x="758309" y="3326606"/>
            <a:ext cx="13113782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Heart Attack Analysis &amp; Prediction da Kaggle, versione migliorata del UCI Heart Disease Dataset.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58309" y="4025265"/>
            <a:ext cx="4190762" cy="7149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600"/>
              </a:lnSpc>
              <a:buNone/>
            </a:pPr>
            <a:r>
              <a:rPr lang="en-US" sz="5600" dirty="0">
                <a:solidFill>
                  <a:srgbClr val="3B3535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303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1428274" y="5010864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00"/>
              </a:lnSpc>
              <a:buNone/>
            </a:pPr>
            <a:r>
              <a:rPr lang="en-US" sz="2200" dirty="0">
                <a:solidFill>
                  <a:srgbClr val="3B3535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Istanze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219819" y="4025265"/>
            <a:ext cx="4190762" cy="7149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600"/>
              </a:lnSpc>
              <a:buNone/>
            </a:pPr>
            <a:r>
              <a:rPr lang="en-US" sz="5600" dirty="0">
                <a:solidFill>
                  <a:srgbClr val="3B3535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14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5889784" y="5010864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00"/>
              </a:lnSpc>
              <a:buNone/>
            </a:pPr>
            <a:r>
              <a:rPr lang="en-US" sz="2200" dirty="0">
                <a:solidFill>
                  <a:srgbClr val="3B3535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Feature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681329" y="4025265"/>
            <a:ext cx="4190762" cy="7149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600"/>
              </a:lnSpc>
              <a:buNone/>
            </a:pPr>
            <a:r>
              <a:rPr lang="en-US" sz="5600" dirty="0">
                <a:solidFill>
                  <a:srgbClr val="3B3535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302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10351294" y="5010864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00"/>
              </a:lnSpc>
              <a:buNone/>
            </a:pPr>
            <a:r>
              <a:rPr lang="en-US" sz="2200" dirty="0">
                <a:solidFill>
                  <a:srgbClr val="3B3535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Record unici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681329" y="5496997"/>
            <a:ext cx="4190762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dopo rimozione duplicati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58309" y="6087428"/>
            <a:ext cx="13113782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Contiene informazioni cliniche e demografiche: età, sesso, colesterolo, pressione sanguigna e altri parametri cardiaci.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27081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58309" y="3840837"/>
            <a:ext cx="6470332" cy="71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dirty="0">
                <a:solidFill>
                  <a:srgbClr val="1F1E1E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Le Feature del Dataset</a:t>
            </a:r>
            <a:endParaRPr lang="en-US" sz="4450" dirty="0"/>
          </a:p>
        </p:txBody>
      </p:sp>
      <p:sp>
        <p:nvSpPr>
          <p:cNvPr id="4" name="Shape 1"/>
          <p:cNvSpPr/>
          <p:nvPr/>
        </p:nvSpPr>
        <p:spPr>
          <a:xfrm>
            <a:off x="758309" y="4878467"/>
            <a:ext cx="4226838" cy="1627942"/>
          </a:xfrm>
          <a:prstGeom prst="roundRect">
            <a:avLst>
              <a:gd name="adj" fmla="val 5590"/>
            </a:avLst>
          </a:prstGeom>
          <a:solidFill>
            <a:srgbClr val="D5DCF6"/>
          </a:solidFill>
          <a:ln w="7620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5" name="Text 2"/>
          <p:cNvSpPr/>
          <p:nvPr/>
        </p:nvSpPr>
        <p:spPr>
          <a:xfrm>
            <a:off x="982504" y="5102662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dirty="0">
                <a:solidFill>
                  <a:srgbClr val="3B3535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Demografiche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982504" y="5588794"/>
            <a:ext cx="3778448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Age, Sex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201722" y="4878467"/>
            <a:ext cx="4226838" cy="1627942"/>
          </a:xfrm>
          <a:prstGeom prst="roundRect">
            <a:avLst>
              <a:gd name="adj" fmla="val 5590"/>
            </a:avLst>
          </a:prstGeom>
          <a:solidFill>
            <a:srgbClr val="D5DCF6"/>
          </a:solidFill>
          <a:ln w="7620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8" name="Text 5"/>
          <p:cNvSpPr/>
          <p:nvPr/>
        </p:nvSpPr>
        <p:spPr>
          <a:xfrm>
            <a:off x="5425916" y="5102662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dirty="0">
                <a:solidFill>
                  <a:srgbClr val="3B3535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Cliniche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5425916" y="5588794"/>
            <a:ext cx="3778448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trtbps, chol, fbs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9645134" y="4878467"/>
            <a:ext cx="4226957" cy="1627942"/>
          </a:xfrm>
          <a:prstGeom prst="roundRect">
            <a:avLst>
              <a:gd name="adj" fmla="val 5590"/>
            </a:avLst>
          </a:prstGeom>
          <a:solidFill>
            <a:srgbClr val="D5DCF6"/>
          </a:solidFill>
          <a:ln w="7620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1" name="Text 8"/>
          <p:cNvSpPr/>
          <p:nvPr/>
        </p:nvSpPr>
        <p:spPr>
          <a:xfrm>
            <a:off x="9869329" y="5102662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dirty="0">
                <a:solidFill>
                  <a:srgbClr val="3B3535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Diagnostiche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9869329" y="5588794"/>
            <a:ext cx="3778568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cp, rest_ecg, thalach, exang, oldpeak, slope, ca, thal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758309" y="6750129"/>
            <a:ext cx="13113782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b="1" dirty="0">
                <a:solidFill>
                  <a:srgbClr val="3B3535"/>
                </a:solidFill>
                <a:latin typeface="Sora ExtraBold" pitchFamily="2" charset="0"/>
                <a:ea typeface="Sora Light" pitchFamily="34" charset="-122"/>
                <a:cs typeface="Sora ExtraBold" pitchFamily="2" charset="0"/>
              </a:rPr>
              <a:t>Variabile Target</a:t>
            </a:r>
            <a:r>
              <a:rPr lang="en-US" sz="1700" b="1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:</a:t>
            </a: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 0 = bassa probabilità di attacco | 1 = alta probabilità di attacco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309" y="2617470"/>
            <a:ext cx="5701546" cy="71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dirty="0">
                <a:solidFill>
                  <a:srgbClr val="1F1E1E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Data Cleaning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58309" y="3763447"/>
            <a:ext cx="216575" cy="2707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Alexandria Light" pitchFamily="34" charset="0"/>
                <a:ea typeface="Alexandria Light" pitchFamily="34" charset="-122"/>
                <a:cs typeface="Alexandria Light" pitchFamily="34" charset="-120"/>
              </a:rPr>
              <a:t>01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58309" y="4100989"/>
            <a:ext cx="4226838" cy="30480"/>
          </a:xfrm>
          <a:prstGeom prst="rect">
            <a:avLst/>
          </a:prstGeom>
          <a:solidFill>
            <a:srgbClr val="1A2D7A"/>
          </a:solidFill>
          <a:ln/>
        </p:spPr>
        <p:txBody>
          <a:bodyPr/>
          <a:lstStyle/>
          <a:p>
            <a:endParaRPr lang="it-IT" dirty="0"/>
          </a:p>
        </p:txBody>
      </p:sp>
      <p:sp>
        <p:nvSpPr>
          <p:cNvPr id="5" name="Text 3"/>
          <p:cNvSpPr/>
          <p:nvPr/>
        </p:nvSpPr>
        <p:spPr>
          <a:xfrm>
            <a:off x="758309" y="4270177"/>
            <a:ext cx="2940248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dirty="0">
                <a:solidFill>
                  <a:srgbClr val="3B3535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Rimozione Duplicati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58309" y="4756309"/>
            <a:ext cx="4226838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1 riga duplicata rimossa su 303 totali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201722" y="3763447"/>
            <a:ext cx="216575" cy="2707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Alexandria Light" pitchFamily="34" charset="0"/>
                <a:ea typeface="Alexandria Light" pitchFamily="34" charset="-122"/>
                <a:cs typeface="Alexandria Light" pitchFamily="34" charset="-120"/>
              </a:rPr>
              <a:t>02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201722" y="4100989"/>
            <a:ext cx="4226838" cy="30480"/>
          </a:xfrm>
          <a:prstGeom prst="rect">
            <a:avLst/>
          </a:prstGeom>
          <a:solidFill>
            <a:srgbClr val="1A2D7A"/>
          </a:solidFill>
          <a:ln/>
        </p:spPr>
        <p:txBody>
          <a:bodyPr/>
          <a:lstStyle/>
          <a:p>
            <a:endParaRPr lang="it-IT" dirty="0"/>
          </a:p>
        </p:txBody>
      </p:sp>
      <p:sp>
        <p:nvSpPr>
          <p:cNvPr id="9" name="Text 7"/>
          <p:cNvSpPr/>
          <p:nvPr/>
        </p:nvSpPr>
        <p:spPr>
          <a:xfrm>
            <a:off x="5201722" y="4270177"/>
            <a:ext cx="3008590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dirty="0">
                <a:solidFill>
                  <a:srgbClr val="3B3535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Controllo Valori Nulli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201722" y="4756309"/>
            <a:ext cx="4226838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Nessun valore nullo significativo rilevato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645134" y="3763447"/>
            <a:ext cx="216575" cy="2707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Alexandria Light" pitchFamily="34" charset="0"/>
                <a:ea typeface="Alexandria Light" pitchFamily="34" charset="-122"/>
                <a:cs typeface="Alexandria Light" pitchFamily="34" charset="-120"/>
              </a:rPr>
              <a:t>03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645134" y="4100989"/>
            <a:ext cx="4226957" cy="30480"/>
          </a:xfrm>
          <a:prstGeom prst="rect">
            <a:avLst/>
          </a:prstGeom>
          <a:solidFill>
            <a:srgbClr val="1A2D7A"/>
          </a:solidFill>
          <a:ln/>
        </p:spPr>
        <p:txBody>
          <a:bodyPr/>
          <a:lstStyle/>
          <a:p>
            <a:endParaRPr lang="it-IT" dirty="0"/>
          </a:p>
        </p:txBody>
      </p:sp>
      <p:sp>
        <p:nvSpPr>
          <p:cNvPr id="13" name="Text 11"/>
          <p:cNvSpPr/>
          <p:nvPr/>
        </p:nvSpPr>
        <p:spPr>
          <a:xfrm>
            <a:off x="9645134" y="4270177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dirty="0">
                <a:solidFill>
                  <a:srgbClr val="3B3535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Analisi Outlier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645134" y="4756309"/>
            <a:ext cx="4226957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Metodo IQR applicato; outlier mantenuti come casi clinici reali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2825" y="544354"/>
            <a:ext cx="8967311" cy="651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100"/>
              </a:lnSpc>
              <a:buNone/>
            </a:pPr>
            <a:r>
              <a:rPr lang="en-US" sz="4100" dirty="0">
                <a:solidFill>
                  <a:srgbClr val="1F1E1E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Analisi della Variabile Dipendente</a:t>
            </a:r>
            <a:endParaRPr lang="en-US" sz="4100" dirty="0"/>
          </a:p>
        </p:txBody>
      </p:sp>
      <p:sp>
        <p:nvSpPr>
          <p:cNvPr id="4" name="Text 1"/>
          <p:cNvSpPr/>
          <p:nvPr/>
        </p:nvSpPr>
        <p:spPr>
          <a:xfrm>
            <a:off x="7564279" y="1690449"/>
            <a:ext cx="2627114" cy="3256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50" dirty="0">
                <a:solidFill>
                  <a:srgbClr val="1F1E1E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Osservazioni Chiave</a:t>
            </a:r>
            <a:endParaRPr lang="en-US" sz="2050" dirty="0"/>
          </a:p>
        </p:txBody>
      </p:sp>
      <p:sp>
        <p:nvSpPr>
          <p:cNvPr id="5" name="Text 2"/>
          <p:cNvSpPr/>
          <p:nvPr/>
        </p:nvSpPr>
        <p:spPr>
          <a:xfrm>
            <a:off x="7564279" y="2213967"/>
            <a:ext cx="6380917" cy="316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50"/>
              </a:lnSpc>
              <a:buSzPct val="100000"/>
              <a:buChar char="•"/>
            </a:pPr>
            <a:r>
              <a:rPr lang="en-US" sz="15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Dataset bilanciato tra classi 0 e 1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7564279" y="2599849"/>
            <a:ext cx="6380917" cy="316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50"/>
              </a:lnSpc>
              <a:buSzPct val="100000"/>
              <a:buChar char="•"/>
            </a:pPr>
            <a:r>
              <a:rPr lang="en-US" sz="15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Età 50-65: maggiore concentrazione attacchi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7564279" y="2985730"/>
            <a:ext cx="6380917" cy="316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50"/>
              </a:lnSpc>
              <a:buSzPct val="100000"/>
              <a:buChar char="•"/>
            </a:pPr>
            <a:r>
              <a:rPr lang="en-US" sz="15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Maschi: maggiore probabilità di attacco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7564279" y="3371612"/>
            <a:ext cx="6380917" cy="316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50"/>
              </a:lnSpc>
              <a:buSzPct val="100000"/>
              <a:buChar char="•"/>
            </a:pPr>
            <a:r>
              <a:rPr lang="en-US" sz="15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Età e sesso sono variabili predittive importanti</a:t>
            </a:r>
            <a:endParaRPr lang="en-US" sz="1550" dirty="0"/>
          </a:p>
        </p:txBody>
      </p:sp>
      <p:pic>
        <p:nvPicPr>
          <p:cNvPr id="10" name="Immagine 9" descr="Immagine che contiene testo, schermat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4614E180-0FD8-A664-4885-F69ED593BD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1029" y="4642581"/>
            <a:ext cx="4515010" cy="3043900"/>
          </a:xfrm>
          <a:prstGeom prst="rect">
            <a:avLst/>
          </a:prstGeom>
        </p:spPr>
      </p:pic>
      <p:pic>
        <p:nvPicPr>
          <p:cNvPr id="12" name="Immagine 11" descr="Immagine che contiene testo, schermata, diagramma, Rettangolo&#10;&#10;Il contenuto generato dall'IA potrebbe non essere corretto.">
            <a:extLst>
              <a:ext uri="{FF2B5EF4-FFF2-40B4-BE49-F238E27FC236}">
                <a16:creationId xmlns:a16="http://schemas.microsoft.com/office/drawing/2014/main" id="{6A978068-1253-339D-2831-67CFB2F2AF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470" y="4301466"/>
            <a:ext cx="4515010" cy="3273521"/>
          </a:xfrm>
          <a:prstGeom prst="rect">
            <a:avLst/>
          </a:prstGeom>
        </p:spPr>
      </p:pic>
      <p:pic>
        <p:nvPicPr>
          <p:cNvPr id="14" name="Immagine 13" descr="Immagine che contiene testo, diagramma, schermata, Diagramma&#10;&#10;Il contenuto generato dall'IA potrebbe non essere corretto.">
            <a:extLst>
              <a:ext uri="{FF2B5EF4-FFF2-40B4-BE49-F238E27FC236}">
                <a16:creationId xmlns:a16="http://schemas.microsoft.com/office/drawing/2014/main" id="{142FB90D-0D1E-4D3A-C15F-765A40DC84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3220" y="1350587"/>
            <a:ext cx="4223260" cy="28886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309" y="2217063"/>
            <a:ext cx="1324213" cy="407075"/>
          </a:xfrm>
          <a:prstGeom prst="roundRect">
            <a:avLst>
              <a:gd name="adj" fmla="val 17883"/>
            </a:avLst>
          </a:prstGeom>
          <a:solidFill>
            <a:srgbClr val="D5DCF6"/>
          </a:solidFill>
          <a:ln/>
        </p:spPr>
        <p:txBody>
          <a:bodyPr/>
          <a:lstStyle/>
          <a:p>
            <a:endParaRPr lang="it-IT" dirty="0"/>
          </a:p>
        </p:txBody>
      </p:sp>
      <p:sp>
        <p:nvSpPr>
          <p:cNvPr id="3" name="Text 1"/>
          <p:cNvSpPr/>
          <p:nvPr/>
        </p:nvSpPr>
        <p:spPr>
          <a:xfrm>
            <a:off x="888206" y="2281952"/>
            <a:ext cx="1064419" cy="277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CAPITOLO 3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758309" y="2710696"/>
            <a:ext cx="5701546" cy="71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dirty="0">
                <a:solidFill>
                  <a:srgbClr val="1F1E1E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Modelli Scelti</a:t>
            </a:r>
            <a:endParaRPr lang="en-US" sz="4450" dirty="0"/>
          </a:p>
        </p:txBody>
      </p:sp>
      <p:sp>
        <p:nvSpPr>
          <p:cNvPr id="5" name="Shape 3"/>
          <p:cNvSpPr/>
          <p:nvPr/>
        </p:nvSpPr>
        <p:spPr>
          <a:xfrm>
            <a:off x="758309" y="3748326"/>
            <a:ext cx="6448544" cy="1673662"/>
          </a:xfrm>
          <a:prstGeom prst="roundRect">
            <a:avLst>
              <a:gd name="adj" fmla="val 8742"/>
            </a:avLst>
          </a:prstGeom>
          <a:solidFill>
            <a:srgbClr val="FFFAFA"/>
          </a:solidFill>
          <a:ln w="30480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6" name="Shape 4"/>
          <p:cNvSpPr/>
          <p:nvPr/>
        </p:nvSpPr>
        <p:spPr>
          <a:xfrm>
            <a:off x="727829" y="3748326"/>
            <a:ext cx="121920" cy="1673662"/>
          </a:xfrm>
          <a:prstGeom prst="roundRect">
            <a:avLst>
              <a:gd name="adj" fmla="val 74638"/>
            </a:avLst>
          </a:prstGeom>
          <a:solidFill>
            <a:srgbClr val="1A2D7A"/>
          </a:solidFill>
          <a:ln/>
        </p:spPr>
        <p:txBody>
          <a:bodyPr/>
          <a:lstStyle/>
          <a:p>
            <a:endParaRPr lang="it-IT" dirty="0"/>
          </a:p>
        </p:txBody>
      </p:sp>
      <p:sp>
        <p:nvSpPr>
          <p:cNvPr id="7" name="Text 5"/>
          <p:cNvSpPr/>
          <p:nvPr/>
        </p:nvSpPr>
        <p:spPr>
          <a:xfrm>
            <a:off x="1096804" y="3995380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dirty="0">
                <a:solidFill>
                  <a:srgbClr val="3B3535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Decision Tree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96804" y="4481513"/>
            <a:ext cx="5862995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Modello base con alta interpretabilità. Costruisce regole decisionali tramite algoritmo CART.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423428" y="3748326"/>
            <a:ext cx="6448663" cy="1673662"/>
          </a:xfrm>
          <a:prstGeom prst="roundRect">
            <a:avLst>
              <a:gd name="adj" fmla="val 8742"/>
            </a:avLst>
          </a:prstGeom>
          <a:solidFill>
            <a:srgbClr val="FFFAFA"/>
          </a:solidFill>
          <a:ln w="30480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0" name="Shape 8"/>
          <p:cNvSpPr/>
          <p:nvPr/>
        </p:nvSpPr>
        <p:spPr>
          <a:xfrm>
            <a:off x="7392948" y="3748326"/>
            <a:ext cx="121920" cy="1673662"/>
          </a:xfrm>
          <a:prstGeom prst="roundRect">
            <a:avLst>
              <a:gd name="adj" fmla="val 74638"/>
            </a:avLst>
          </a:prstGeom>
          <a:solidFill>
            <a:srgbClr val="1A2D7A"/>
          </a:solidFill>
          <a:ln/>
        </p:spPr>
        <p:txBody>
          <a:bodyPr/>
          <a:lstStyle/>
          <a:p>
            <a:endParaRPr lang="it-IT" dirty="0"/>
          </a:p>
        </p:txBody>
      </p:sp>
      <p:sp>
        <p:nvSpPr>
          <p:cNvPr id="11" name="Text 9"/>
          <p:cNvSpPr/>
          <p:nvPr/>
        </p:nvSpPr>
        <p:spPr>
          <a:xfrm>
            <a:off x="7761923" y="3995380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dirty="0">
                <a:solidFill>
                  <a:srgbClr val="3B3535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Random Forest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761923" y="4481513"/>
            <a:ext cx="5863114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Ensemble di 100 alberi con bootstrap sampling. Riduce overfitting e migliora accuratezza.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58309" y="5665708"/>
            <a:ext cx="13113782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b="1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Split:</a:t>
            </a: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 80% training set | 20% test set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00919" y="121202"/>
            <a:ext cx="7575113" cy="71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dirty="0">
                <a:solidFill>
                  <a:srgbClr val="1F1E1E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Risultati della Valutazione</a:t>
            </a:r>
            <a:endParaRPr lang="en-US" sz="44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309" y="2414349"/>
            <a:ext cx="1083231" cy="221920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058114" y="2630924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dirty="0">
                <a:solidFill>
                  <a:srgbClr val="3B3535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Decision Tree</a:t>
            </a:r>
            <a:endParaRPr lang="en-US" sz="2200" dirty="0"/>
          </a:p>
        </p:txBody>
      </p:sp>
      <p:sp>
        <p:nvSpPr>
          <p:cNvPr id="6" name="Text 2"/>
          <p:cNvSpPr/>
          <p:nvPr/>
        </p:nvSpPr>
        <p:spPr>
          <a:xfrm>
            <a:off x="2058114" y="3117056"/>
            <a:ext cx="6327577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Accuracy: 0.787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2058114" y="3593663"/>
            <a:ext cx="6327577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Recall: 0.909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2058114" y="4070271"/>
            <a:ext cx="6327577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F1-score: 0.822</a:t>
            </a:r>
            <a:endParaRPr lang="en-US" sz="17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309" y="4633555"/>
            <a:ext cx="1083231" cy="221920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2058114" y="4850130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dirty="0">
                <a:solidFill>
                  <a:srgbClr val="3B3535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Random Forest</a:t>
            </a:r>
            <a:endParaRPr lang="en-US" sz="2200" dirty="0"/>
          </a:p>
        </p:txBody>
      </p:sp>
      <p:sp>
        <p:nvSpPr>
          <p:cNvPr id="11" name="Text 6"/>
          <p:cNvSpPr/>
          <p:nvPr/>
        </p:nvSpPr>
        <p:spPr>
          <a:xfrm>
            <a:off x="2058114" y="5336262"/>
            <a:ext cx="6327577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Prestazioni superiori</a:t>
            </a:r>
            <a:endParaRPr lang="en-US" sz="1700" dirty="0"/>
          </a:p>
        </p:txBody>
      </p:sp>
      <p:sp>
        <p:nvSpPr>
          <p:cNvPr id="12" name="Text 7"/>
          <p:cNvSpPr/>
          <p:nvPr/>
        </p:nvSpPr>
        <p:spPr>
          <a:xfrm>
            <a:off x="2058114" y="5812869"/>
            <a:ext cx="6327577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AUC più elevato</a:t>
            </a:r>
            <a:endParaRPr lang="en-US" sz="1700" dirty="0"/>
          </a:p>
        </p:txBody>
      </p:sp>
      <p:sp>
        <p:nvSpPr>
          <p:cNvPr id="13" name="Text 8"/>
          <p:cNvSpPr/>
          <p:nvPr/>
        </p:nvSpPr>
        <p:spPr>
          <a:xfrm>
            <a:off x="2058114" y="6289477"/>
            <a:ext cx="6327577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Modello finale scelto</a:t>
            </a:r>
            <a:endParaRPr lang="en-US" sz="1700" dirty="0"/>
          </a:p>
        </p:txBody>
      </p:sp>
      <p:pic>
        <p:nvPicPr>
          <p:cNvPr id="15" name="Immagine 14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B06DB504-FCC8-B0FB-BE46-C3679DA77C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8475" y="810799"/>
            <a:ext cx="4013877" cy="3506924"/>
          </a:xfrm>
          <a:prstGeom prst="rect">
            <a:avLst/>
          </a:prstGeom>
        </p:spPr>
      </p:pic>
      <p:pic>
        <p:nvPicPr>
          <p:cNvPr id="17" name="Immagine 16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C305B95E-99B1-9EC5-5AD3-B217FB061F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8476" y="4546879"/>
            <a:ext cx="3980696" cy="3584455"/>
          </a:xfrm>
          <a:prstGeom prst="rect">
            <a:avLst/>
          </a:prstGeom>
        </p:spPr>
      </p:pic>
      <p:pic>
        <p:nvPicPr>
          <p:cNvPr id="19" name="Immagine 18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9C1FA8D9-EBF8-3B04-6190-8FCE553C68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87516" y="1197167"/>
            <a:ext cx="5641584" cy="483564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309" y="888087"/>
            <a:ext cx="6274832" cy="71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dirty="0">
                <a:solidFill>
                  <a:srgbClr val="1F1E1E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Explainability e SHAP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58309" y="1676518"/>
            <a:ext cx="3112889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dirty="0">
                <a:solidFill>
                  <a:srgbClr val="1F1E1E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Perché è Importante?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58309" y="2249327"/>
            <a:ext cx="7656790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In ambito medico è essenziale giustificare le decisioni del </a:t>
            </a:r>
          </a:p>
          <a:p>
            <a:pPr marL="0" indent="0" algn="l">
              <a:lnSpc>
                <a:spcPts val="2700"/>
              </a:lnSpc>
              <a:buNone/>
            </a:pPr>
            <a:r>
              <a:rPr lang="en-US" sz="1700" dirty="0" err="1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modello</a:t>
            </a: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 in modo chiaro e trasparente.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7594006" y="1659867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dirty="0">
                <a:solidFill>
                  <a:srgbClr val="1F1E1E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Metodi Utilizzati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594006" y="2249327"/>
            <a:ext cx="7656790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700" b="1" dirty="0">
                <a:solidFill>
                  <a:srgbClr val="3B3535"/>
                </a:solidFill>
                <a:latin typeface="Sora" pitchFamily="2" charset="0"/>
                <a:ea typeface="Sora Light" pitchFamily="34" charset="-122"/>
                <a:cs typeface="Sora" pitchFamily="2" charset="0"/>
              </a:rPr>
              <a:t>Feature Importance</a:t>
            </a:r>
            <a:r>
              <a:rPr lang="en-US" sz="1700" b="1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:</a:t>
            </a: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 misura l'influenza di ogni variabile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594006" y="2812611"/>
            <a:ext cx="7656790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700" b="1" dirty="0">
                <a:solidFill>
                  <a:srgbClr val="3B3535"/>
                </a:solidFill>
                <a:latin typeface="Sora" pitchFamily="2" charset="0"/>
                <a:ea typeface="Sora Light" pitchFamily="34" charset="-122"/>
                <a:cs typeface="Sora" pitchFamily="2" charset="0"/>
              </a:rPr>
              <a:t>SHAP</a:t>
            </a:r>
            <a:r>
              <a:rPr lang="en-US" sz="1700" b="1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:</a:t>
            </a: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 calcola l'impatto di ciascuna feature sulla predizione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276B2-B195-54EB-538E-0C26F9ECF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719C1B7-5A48-3340-0480-A87670896393}"/>
              </a:ext>
            </a:extLst>
          </p:cNvPr>
          <p:cNvSpPr/>
          <p:nvPr/>
        </p:nvSpPr>
        <p:spPr>
          <a:xfrm>
            <a:off x="465451" y="175379"/>
            <a:ext cx="8611641" cy="71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dirty="0">
                <a:solidFill>
                  <a:srgbClr val="1F1E1E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Explainability e SHAP </a:t>
            </a:r>
            <a:r>
              <a:rPr lang="en-US" sz="4450" dirty="0" err="1">
                <a:solidFill>
                  <a:srgbClr val="1F1E1E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Risultati</a:t>
            </a:r>
            <a:endParaRPr lang="en-US" sz="4450" dirty="0"/>
          </a:p>
        </p:txBody>
      </p:sp>
      <p:pic>
        <p:nvPicPr>
          <p:cNvPr id="9" name="Immagine 8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05805373-67A4-E116-39D7-AE8C8019AE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955" y="4297799"/>
            <a:ext cx="5299730" cy="3709811"/>
          </a:xfrm>
          <a:prstGeom prst="rect">
            <a:avLst/>
          </a:prstGeom>
        </p:spPr>
      </p:pic>
      <p:pic>
        <p:nvPicPr>
          <p:cNvPr id="11" name="Immagine 10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D49F016D-AFE5-5595-C5FA-316C3B1129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8312" y="888087"/>
            <a:ext cx="4871017" cy="3409712"/>
          </a:xfrm>
          <a:prstGeom prst="rect">
            <a:avLst/>
          </a:prstGeom>
        </p:spPr>
      </p:pic>
      <p:pic>
        <p:nvPicPr>
          <p:cNvPr id="13" name="Immagine 12" descr="Immagine che contiene testo, schermata, diagramma, numero&#10;&#10;Il contenuto generato dall'IA potrebbe non essere corretto.">
            <a:extLst>
              <a:ext uri="{FF2B5EF4-FFF2-40B4-BE49-F238E27FC236}">
                <a16:creationId xmlns:a16="http://schemas.microsoft.com/office/drawing/2014/main" id="{993D838B-8CDA-C12C-6D1C-1371054D90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2267" y="4465999"/>
            <a:ext cx="4868957" cy="3651717"/>
          </a:xfrm>
          <a:prstGeom prst="rect">
            <a:avLst/>
          </a:prstGeom>
        </p:spPr>
      </p:pic>
      <p:pic>
        <p:nvPicPr>
          <p:cNvPr id="15" name="Immagine 14" descr="Immagine che contiene testo, schermata, diagramma, numero&#10;&#10;Il contenuto generato dall'IA potrebbe non essere corretto.">
            <a:extLst>
              <a:ext uri="{FF2B5EF4-FFF2-40B4-BE49-F238E27FC236}">
                <a16:creationId xmlns:a16="http://schemas.microsoft.com/office/drawing/2014/main" id="{20A01EAF-C209-E6E5-ADC1-61D06E1038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2267" y="888087"/>
            <a:ext cx="5014549" cy="3760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1338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44709" y="1166574"/>
            <a:ext cx="5701546" cy="71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dirty="0">
                <a:solidFill>
                  <a:srgbClr val="1F1E1E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Conclusioni</a:t>
            </a:r>
            <a:endParaRPr lang="en-US" sz="4450" dirty="0"/>
          </a:p>
        </p:txBody>
      </p:sp>
      <p:sp>
        <p:nvSpPr>
          <p:cNvPr id="4" name="Shape 1"/>
          <p:cNvSpPr/>
          <p:nvPr/>
        </p:nvSpPr>
        <p:spPr>
          <a:xfrm>
            <a:off x="6244709" y="2204204"/>
            <a:ext cx="3705344" cy="2494478"/>
          </a:xfrm>
          <a:prstGeom prst="roundRect">
            <a:avLst>
              <a:gd name="adj" fmla="val 3648"/>
            </a:avLst>
          </a:prstGeom>
          <a:solidFill>
            <a:srgbClr val="D5DCF6"/>
          </a:solidFill>
          <a:ln w="7620">
            <a:solidFill>
              <a:srgbClr val="1A2D7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Shape 2"/>
          <p:cNvSpPr/>
          <p:nvPr/>
        </p:nvSpPr>
        <p:spPr>
          <a:xfrm>
            <a:off x="6468904" y="2428399"/>
            <a:ext cx="649962" cy="649962"/>
          </a:xfrm>
          <a:prstGeom prst="roundRect">
            <a:avLst>
              <a:gd name="adj" fmla="val 14067108"/>
            </a:avLst>
          </a:prstGeom>
          <a:solidFill>
            <a:srgbClr val="1A2D7A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47617" y="2607112"/>
            <a:ext cx="292418" cy="29241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68904" y="3294936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dirty="0">
                <a:solidFill>
                  <a:srgbClr val="3B3535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Modello Vincente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6468904" y="3781068"/>
            <a:ext cx="3256955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Random Forest per accuracy e recall superiori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10166628" y="2204204"/>
            <a:ext cx="3705463" cy="2494478"/>
          </a:xfrm>
          <a:prstGeom prst="roundRect">
            <a:avLst>
              <a:gd name="adj" fmla="val 3648"/>
            </a:avLst>
          </a:prstGeom>
          <a:solidFill>
            <a:srgbClr val="D5DCF6"/>
          </a:solidFill>
          <a:ln w="7620">
            <a:solidFill>
              <a:srgbClr val="1A2D7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Shape 6"/>
          <p:cNvSpPr/>
          <p:nvPr/>
        </p:nvSpPr>
        <p:spPr>
          <a:xfrm>
            <a:off x="10390823" y="2428399"/>
            <a:ext cx="649962" cy="649962"/>
          </a:xfrm>
          <a:prstGeom prst="roundRect">
            <a:avLst>
              <a:gd name="adj" fmla="val 14067108"/>
            </a:avLst>
          </a:prstGeom>
          <a:solidFill>
            <a:srgbClr val="1A2D7A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569535" y="2607112"/>
            <a:ext cx="292418" cy="29241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390823" y="3294936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dirty="0">
                <a:solidFill>
                  <a:srgbClr val="3B3535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Feature Chiave</a:t>
            </a:r>
            <a:endParaRPr lang="en-US" sz="2200" dirty="0"/>
          </a:p>
        </p:txBody>
      </p:sp>
      <p:sp>
        <p:nvSpPr>
          <p:cNvPr id="13" name="Text 8"/>
          <p:cNvSpPr/>
          <p:nvPr/>
        </p:nvSpPr>
        <p:spPr>
          <a:xfrm>
            <a:off x="10390823" y="3781068"/>
            <a:ext cx="3257074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"cp" (tipo dolore toracico) contributo principale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6244709" y="4915257"/>
            <a:ext cx="7627382" cy="2147768"/>
          </a:xfrm>
          <a:prstGeom prst="roundRect">
            <a:avLst>
              <a:gd name="adj" fmla="val 4237"/>
            </a:avLst>
          </a:prstGeom>
          <a:solidFill>
            <a:srgbClr val="D5DCF6"/>
          </a:solidFill>
          <a:ln w="7620">
            <a:solidFill>
              <a:srgbClr val="1A2D7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Shape 10"/>
          <p:cNvSpPr/>
          <p:nvPr/>
        </p:nvSpPr>
        <p:spPr>
          <a:xfrm>
            <a:off x="6468904" y="5139452"/>
            <a:ext cx="649962" cy="649962"/>
          </a:xfrm>
          <a:prstGeom prst="roundRect">
            <a:avLst>
              <a:gd name="adj" fmla="val 14067108"/>
            </a:avLst>
          </a:prstGeom>
          <a:solidFill>
            <a:srgbClr val="1A2D7A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47617" y="5318165"/>
            <a:ext cx="292418" cy="29241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468904" y="6005989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dirty="0">
                <a:solidFill>
                  <a:srgbClr val="3B3535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Trasparenza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6468904" y="6492121"/>
            <a:ext cx="7178993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SHAP garantisce interpretabilità clinica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386</Words>
  <Application>Microsoft Office PowerPoint</Application>
  <PresentationFormat>Personalizzato</PresentationFormat>
  <Paragraphs>88</Paragraphs>
  <Slides>11</Slides>
  <Notes>11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11</vt:i4>
      </vt:variant>
    </vt:vector>
  </HeadingPairs>
  <TitlesOfParts>
    <vt:vector size="19" baseType="lpstr">
      <vt:lpstr>Alexandria ExtraBold</vt:lpstr>
      <vt:lpstr>Alexandria Light</vt:lpstr>
      <vt:lpstr>Sora Light</vt:lpstr>
      <vt:lpstr>Arial</vt:lpstr>
      <vt:lpstr>Sora ExtraBold</vt:lpstr>
      <vt:lpstr>Sora</vt:lpstr>
      <vt:lpstr>Alexandria Semi Bold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Emiliano Di giuseppe</cp:lastModifiedBy>
  <cp:revision>3</cp:revision>
  <dcterms:created xsi:type="dcterms:W3CDTF">2026-01-05T14:14:42Z</dcterms:created>
  <dcterms:modified xsi:type="dcterms:W3CDTF">2026-01-06T12:34:17Z</dcterms:modified>
</cp:coreProperties>
</file>